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58" r:id="rId5"/>
    <p:sldId id="279" r:id="rId6"/>
    <p:sldId id="280" r:id="rId7"/>
    <p:sldId id="281" r:id="rId8"/>
    <p:sldId id="282" r:id="rId9"/>
    <p:sldId id="294" r:id="rId10"/>
    <p:sldId id="295" r:id="rId11"/>
    <p:sldId id="296" r:id="rId12"/>
    <p:sldId id="297" r:id="rId13"/>
    <p:sldId id="283" r:id="rId14"/>
    <p:sldId id="291" r:id="rId15"/>
    <p:sldId id="284" r:id="rId16"/>
    <p:sldId id="292" r:id="rId17"/>
    <p:sldId id="285" r:id="rId18"/>
    <p:sldId id="293" r:id="rId19"/>
    <p:sldId id="290" r:id="rId20"/>
    <p:sldId id="286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F9A"/>
    <a:srgbClr val="85969A"/>
    <a:srgbClr val="8899A8"/>
    <a:srgbClr val="595959"/>
    <a:srgbClr val="004465"/>
    <a:srgbClr val="29647F"/>
    <a:srgbClr val="6692B3"/>
    <a:srgbClr val="3C82AE"/>
    <a:srgbClr val="1B6891"/>
    <a:srgbClr val="1C6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DC6F1C-B09F-40E5-B54B-1A3B4042E2F7}" type="doc">
      <dgm:prSet loTypeId="urn:microsoft.com/office/officeart/2005/8/layout/chevron2" loCatId="process" qsTypeId="urn:microsoft.com/office/officeart/2005/8/quickstyle/simple5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4ACA8F8A-A40E-4D82-8781-A3E5D59C07DF}">
      <dgm:prSet phldrT="[文本]" phldr="0"/>
      <dgm:spPr/>
      <dgm:t>
        <a:bodyPr/>
        <a:lstStyle/>
        <a:p>
          <a:r>
            <a:rPr lang="en-US" b="1" dirty="0"/>
            <a:t>F1</a:t>
          </a:r>
        </a:p>
      </dgm:t>
    </dgm:pt>
    <dgm:pt modelId="{6796262A-9D13-47FD-A46A-229971DC3472}" type="parTrans" cxnId="{06F9FA4A-FC33-41A8-A7B8-461BE213FAA5}">
      <dgm:prSet/>
      <dgm:spPr/>
      <dgm:t>
        <a:bodyPr/>
        <a:lstStyle/>
        <a:p>
          <a:endParaRPr lang="en-US"/>
        </a:p>
      </dgm:t>
    </dgm:pt>
    <dgm:pt modelId="{3A760D1A-CBBC-4690-BE65-15710BA27464}" type="sibTrans" cxnId="{06F9FA4A-FC33-41A8-A7B8-461BE213FAA5}">
      <dgm:prSet/>
      <dgm:spPr/>
      <dgm:t>
        <a:bodyPr/>
        <a:lstStyle/>
        <a:p>
          <a:endParaRPr lang="en-US"/>
        </a:p>
      </dgm:t>
    </dgm:pt>
    <dgm:pt modelId="{3EBCB46E-319A-4EAC-AA45-18208161AAF8}">
      <dgm:prSet phldrT="[文本]" phldr="0"/>
      <dgm:spPr/>
      <dgm:t>
        <a:bodyPr/>
        <a:lstStyle/>
        <a:p>
          <a:r>
            <a:rPr lang="en-US" b="0" dirty="0"/>
            <a:t>Fall Event Detection</a:t>
          </a:r>
        </a:p>
      </dgm:t>
    </dgm:pt>
    <dgm:pt modelId="{16EDF1E1-9E88-4F54-9FCA-4A526DB30981}" type="parTrans" cxnId="{21837B23-3AE4-42F3-9D01-9E2B0DDA6B7B}">
      <dgm:prSet/>
      <dgm:spPr/>
      <dgm:t>
        <a:bodyPr/>
        <a:lstStyle/>
        <a:p>
          <a:endParaRPr lang="en-US"/>
        </a:p>
      </dgm:t>
    </dgm:pt>
    <dgm:pt modelId="{5A2CF31F-E88B-4FF3-9E76-A35FCFF30064}" type="sibTrans" cxnId="{21837B23-3AE4-42F3-9D01-9E2B0DDA6B7B}">
      <dgm:prSet/>
      <dgm:spPr/>
      <dgm:t>
        <a:bodyPr/>
        <a:lstStyle/>
        <a:p>
          <a:endParaRPr lang="en-US"/>
        </a:p>
      </dgm:t>
    </dgm:pt>
    <dgm:pt modelId="{52E51567-B939-47B9-B9CD-0555B04B87ED}">
      <dgm:prSet phldrT="[文本]" phldr="0"/>
      <dgm:spPr/>
      <dgm:t>
        <a:bodyPr/>
        <a:lstStyle/>
        <a:p>
          <a:r>
            <a:rPr lang="en-US" b="1" dirty="0"/>
            <a:t>F2</a:t>
          </a:r>
        </a:p>
      </dgm:t>
    </dgm:pt>
    <dgm:pt modelId="{18FFC2A7-7B21-46CE-849C-E61F3D2ED0D5}" type="parTrans" cxnId="{DDB702AD-76A5-4460-912A-1319DF55FF4B}">
      <dgm:prSet/>
      <dgm:spPr/>
      <dgm:t>
        <a:bodyPr/>
        <a:lstStyle/>
        <a:p>
          <a:endParaRPr lang="en-US"/>
        </a:p>
      </dgm:t>
    </dgm:pt>
    <dgm:pt modelId="{C272D842-2AF4-4542-A39D-A847B102F9D7}" type="sibTrans" cxnId="{DDB702AD-76A5-4460-912A-1319DF55FF4B}">
      <dgm:prSet/>
      <dgm:spPr/>
      <dgm:t>
        <a:bodyPr/>
        <a:lstStyle/>
        <a:p>
          <a:endParaRPr lang="en-US"/>
        </a:p>
      </dgm:t>
    </dgm:pt>
    <dgm:pt modelId="{68382DB5-8A5C-42CD-B4A6-9B55264D6619}">
      <dgm:prSet phldrT="[文本]" phldr="0"/>
      <dgm:spPr/>
      <dgm:t>
        <a:bodyPr/>
        <a:lstStyle/>
        <a:p>
          <a:r>
            <a:rPr lang="en-US" b="0" dirty="0"/>
            <a:t>Post-fall Situation Assessment</a:t>
          </a:r>
        </a:p>
      </dgm:t>
    </dgm:pt>
    <dgm:pt modelId="{56F22D72-88D3-40A4-882A-7028C20FC00E}" type="parTrans" cxnId="{71877099-A4C1-42AF-AAAB-3C70BD717602}">
      <dgm:prSet/>
      <dgm:spPr/>
      <dgm:t>
        <a:bodyPr/>
        <a:lstStyle/>
        <a:p>
          <a:endParaRPr lang="en-US"/>
        </a:p>
      </dgm:t>
    </dgm:pt>
    <dgm:pt modelId="{F9E2DE78-9286-408B-8CBB-6F963BEF274C}" type="sibTrans" cxnId="{71877099-A4C1-42AF-AAAB-3C70BD717602}">
      <dgm:prSet/>
      <dgm:spPr/>
      <dgm:t>
        <a:bodyPr/>
        <a:lstStyle/>
        <a:p>
          <a:endParaRPr lang="en-US"/>
        </a:p>
      </dgm:t>
    </dgm:pt>
    <dgm:pt modelId="{A6544C90-38DD-45EC-B424-BEBDAFC935C1}">
      <dgm:prSet phldrT="[文本]" phldr="0"/>
      <dgm:spPr/>
      <dgm:t>
        <a:bodyPr/>
        <a:lstStyle/>
        <a:p>
          <a:r>
            <a:rPr lang="en-US" b="1" dirty="0"/>
            <a:t>F3</a:t>
          </a:r>
        </a:p>
      </dgm:t>
    </dgm:pt>
    <dgm:pt modelId="{217C1817-3E52-4600-977F-2AAFA0E463A7}" type="parTrans" cxnId="{8D44C2DD-5A0C-46A7-B655-A98F24921301}">
      <dgm:prSet/>
      <dgm:spPr/>
      <dgm:t>
        <a:bodyPr/>
        <a:lstStyle/>
        <a:p>
          <a:endParaRPr lang="en-US"/>
        </a:p>
      </dgm:t>
    </dgm:pt>
    <dgm:pt modelId="{4C0E8757-4F76-4FAE-85C4-48C7584EDEE6}" type="sibTrans" cxnId="{8D44C2DD-5A0C-46A7-B655-A98F24921301}">
      <dgm:prSet/>
      <dgm:spPr/>
      <dgm:t>
        <a:bodyPr/>
        <a:lstStyle/>
        <a:p>
          <a:endParaRPr lang="en-US"/>
        </a:p>
      </dgm:t>
    </dgm:pt>
    <dgm:pt modelId="{FF307EB5-0FE9-4824-B746-FE3EDF5153B6}">
      <dgm:prSet phldrT="[文本]"/>
      <dgm:spPr/>
      <dgm:t>
        <a:bodyPr/>
        <a:lstStyle/>
        <a:p>
          <a:r>
            <a:rPr lang="en-US" b="0" dirty="0"/>
            <a:t>Indoor Fall Location Identification</a:t>
          </a:r>
        </a:p>
      </dgm:t>
    </dgm:pt>
    <dgm:pt modelId="{AA1989F5-DCEB-4B86-9E2D-8258EAB0DAB8}" type="parTrans" cxnId="{01B0156A-6BFD-43C7-B642-69BDD9C1828D}">
      <dgm:prSet/>
      <dgm:spPr/>
      <dgm:t>
        <a:bodyPr/>
        <a:lstStyle/>
        <a:p>
          <a:endParaRPr lang="en-US"/>
        </a:p>
      </dgm:t>
    </dgm:pt>
    <dgm:pt modelId="{B1046210-627D-4401-9E49-299F0959CFB8}" type="sibTrans" cxnId="{01B0156A-6BFD-43C7-B642-69BDD9C1828D}">
      <dgm:prSet/>
      <dgm:spPr/>
      <dgm:t>
        <a:bodyPr/>
        <a:lstStyle/>
        <a:p>
          <a:endParaRPr lang="en-US"/>
        </a:p>
      </dgm:t>
    </dgm:pt>
    <dgm:pt modelId="{2D7DAB09-A2A0-4C46-8284-3431813F0F36}">
      <dgm:prSet/>
      <dgm:spPr/>
      <dgm:t>
        <a:bodyPr/>
        <a:lstStyle/>
        <a:p>
          <a:r>
            <a:rPr lang="en-US" b="1" dirty="0"/>
            <a:t>F4</a:t>
          </a:r>
        </a:p>
      </dgm:t>
    </dgm:pt>
    <dgm:pt modelId="{999FAE7C-C98D-4B17-BECE-503B8CDECC81}" type="parTrans" cxnId="{35718DF3-1526-44CF-87F2-537A53B0BDED}">
      <dgm:prSet/>
      <dgm:spPr/>
      <dgm:t>
        <a:bodyPr/>
        <a:lstStyle/>
        <a:p>
          <a:endParaRPr lang="en-US"/>
        </a:p>
      </dgm:t>
    </dgm:pt>
    <dgm:pt modelId="{2B5A5735-7395-4717-819D-CC4679A0018D}" type="sibTrans" cxnId="{35718DF3-1526-44CF-87F2-537A53B0BDED}">
      <dgm:prSet/>
      <dgm:spPr/>
      <dgm:t>
        <a:bodyPr/>
        <a:lstStyle/>
        <a:p>
          <a:endParaRPr lang="en-US"/>
        </a:p>
      </dgm:t>
    </dgm:pt>
    <dgm:pt modelId="{42BB68E0-EFC9-44B6-9871-B333609EE160}">
      <dgm:prSet/>
      <dgm:spPr/>
      <dgm:t>
        <a:bodyPr/>
        <a:lstStyle/>
        <a:p>
          <a:r>
            <a:rPr lang="en-US" b="1" dirty="0"/>
            <a:t>F5</a:t>
          </a:r>
        </a:p>
      </dgm:t>
    </dgm:pt>
    <dgm:pt modelId="{FD50CAC7-68A8-4E7E-B716-4084741BEEE8}" type="parTrans" cxnId="{AD21A0A1-893C-47A3-B639-E8B946DA0FEB}">
      <dgm:prSet/>
      <dgm:spPr/>
      <dgm:t>
        <a:bodyPr/>
        <a:lstStyle/>
        <a:p>
          <a:endParaRPr lang="en-US"/>
        </a:p>
      </dgm:t>
    </dgm:pt>
    <dgm:pt modelId="{5BACCA11-158B-456F-83DA-B452E4EFCD6A}" type="sibTrans" cxnId="{AD21A0A1-893C-47A3-B639-E8B946DA0FEB}">
      <dgm:prSet/>
      <dgm:spPr/>
      <dgm:t>
        <a:bodyPr/>
        <a:lstStyle/>
        <a:p>
          <a:endParaRPr lang="en-US"/>
        </a:p>
      </dgm:t>
    </dgm:pt>
    <dgm:pt modelId="{21F3649A-0332-46A2-A0D7-0E53D67D0783}">
      <dgm:prSet/>
      <dgm:spPr/>
      <dgm:t>
        <a:bodyPr/>
        <a:lstStyle/>
        <a:p>
          <a:r>
            <a:rPr lang="en-US" b="0" dirty="0"/>
            <a:t>Decision &amp; Alerting</a:t>
          </a:r>
        </a:p>
      </dgm:t>
    </dgm:pt>
    <dgm:pt modelId="{64333181-B348-4DE0-B5D4-133B97616DFE}" type="parTrans" cxnId="{83918E4B-4B6F-485A-9F6B-87A2FA869DA1}">
      <dgm:prSet/>
      <dgm:spPr/>
      <dgm:t>
        <a:bodyPr/>
        <a:lstStyle/>
        <a:p>
          <a:endParaRPr lang="en-US"/>
        </a:p>
      </dgm:t>
    </dgm:pt>
    <dgm:pt modelId="{36623D54-9B5E-46F1-B96E-46536F4487ED}" type="sibTrans" cxnId="{83918E4B-4B6F-485A-9F6B-87A2FA869DA1}">
      <dgm:prSet/>
      <dgm:spPr/>
      <dgm:t>
        <a:bodyPr/>
        <a:lstStyle/>
        <a:p>
          <a:endParaRPr lang="en-US"/>
        </a:p>
      </dgm:t>
    </dgm:pt>
    <dgm:pt modelId="{8546073C-45FF-413F-AE93-041B50597BE6}">
      <dgm:prSet/>
      <dgm:spPr/>
      <dgm:t>
        <a:bodyPr/>
        <a:lstStyle/>
        <a:p>
          <a:r>
            <a:rPr lang="en-US" dirty="0"/>
            <a:t>Post-event Analysis &amp; Optimization</a:t>
          </a:r>
        </a:p>
      </dgm:t>
    </dgm:pt>
    <dgm:pt modelId="{404BB33F-D26D-4453-83FA-19C56EB69F69}" type="parTrans" cxnId="{17ADB9C1-F2FF-4D4E-8CBA-5F38605C299B}">
      <dgm:prSet/>
      <dgm:spPr/>
      <dgm:t>
        <a:bodyPr/>
        <a:lstStyle/>
        <a:p>
          <a:endParaRPr lang="en-US"/>
        </a:p>
      </dgm:t>
    </dgm:pt>
    <dgm:pt modelId="{508FDA14-D6B2-4EBB-823B-A5986F38860C}" type="sibTrans" cxnId="{17ADB9C1-F2FF-4D4E-8CBA-5F38605C299B}">
      <dgm:prSet/>
      <dgm:spPr/>
      <dgm:t>
        <a:bodyPr/>
        <a:lstStyle/>
        <a:p>
          <a:endParaRPr lang="en-US"/>
        </a:p>
      </dgm:t>
    </dgm:pt>
    <dgm:pt modelId="{F8A97A53-5968-4E29-BEB4-DA1FB23E5982}" type="pres">
      <dgm:prSet presAssocID="{08DC6F1C-B09F-40E5-B54B-1A3B4042E2F7}" presName="linearFlow" presStyleCnt="0">
        <dgm:presLayoutVars>
          <dgm:dir/>
          <dgm:animLvl val="lvl"/>
          <dgm:resizeHandles val="exact"/>
        </dgm:presLayoutVars>
      </dgm:prSet>
      <dgm:spPr/>
    </dgm:pt>
    <dgm:pt modelId="{0CB7EC0B-0FE8-47D1-89FC-75A527695574}" type="pres">
      <dgm:prSet presAssocID="{4ACA8F8A-A40E-4D82-8781-A3E5D59C07DF}" presName="composite" presStyleCnt="0"/>
      <dgm:spPr/>
    </dgm:pt>
    <dgm:pt modelId="{6E59DDD7-DB39-4E34-B3BF-78D781F42DA8}" type="pres">
      <dgm:prSet presAssocID="{4ACA8F8A-A40E-4D82-8781-A3E5D59C07DF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532C0E7-B0C1-4FBD-B33E-4F5DB55704C4}" type="pres">
      <dgm:prSet presAssocID="{4ACA8F8A-A40E-4D82-8781-A3E5D59C07DF}" presName="descendantText" presStyleLbl="alignAcc1" presStyleIdx="0" presStyleCnt="5">
        <dgm:presLayoutVars>
          <dgm:bulletEnabled val="1"/>
        </dgm:presLayoutVars>
      </dgm:prSet>
      <dgm:spPr/>
    </dgm:pt>
    <dgm:pt modelId="{4D825691-9BC7-4BAF-A4E4-EE81A5FCC701}" type="pres">
      <dgm:prSet presAssocID="{3A760D1A-CBBC-4690-BE65-15710BA27464}" presName="sp" presStyleCnt="0"/>
      <dgm:spPr/>
    </dgm:pt>
    <dgm:pt modelId="{C1A019F1-3697-4167-9342-B21D1133B8B9}" type="pres">
      <dgm:prSet presAssocID="{52E51567-B939-47B9-B9CD-0555B04B87ED}" presName="composite" presStyleCnt="0"/>
      <dgm:spPr/>
    </dgm:pt>
    <dgm:pt modelId="{E532D1C9-7743-43C5-88FC-F9A11D2EB339}" type="pres">
      <dgm:prSet presAssocID="{52E51567-B939-47B9-B9CD-0555B04B87ED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AD8732E-5CAB-44AB-A683-B177FEB8ACC2}" type="pres">
      <dgm:prSet presAssocID="{52E51567-B939-47B9-B9CD-0555B04B87ED}" presName="descendantText" presStyleLbl="alignAcc1" presStyleIdx="1" presStyleCnt="5">
        <dgm:presLayoutVars>
          <dgm:bulletEnabled val="1"/>
        </dgm:presLayoutVars>
      </dgm:prSet>
      <dgm:spPr/>
    </dgm:pt>
    <dgm:pt modelId="{D5358A83-15C9-42E1-8372-2D55B58F30E4}" type="pres">
      <dgm:prSet presAssocID="{C272D842-2AF4-4542-A39D-A847B102F9D7}" presName="sp" presStyleCnt="0"/>
      <dgm:spPr/>
    </dgm:pt>
    <dgm:pt modelId="{675C7D0F-C250-49E0-AA88-A21530EE1B3A}" type="pres">
      <dgm:prSet presAssocID="{A6544C90-38DD-45EC-B424-BEBDAFC935C1}" presName="composite" presStyleCnt="0"/>
      <dgm:spPr/>
    </dgm:pt>
    <dgm:pt modelId="{3ED51693-D2D3-441E-827F-FDD611BD0013}" type="pres">
      <dgm:prSet presAssocID="{A6544C90-38DD-45EC-B424-BEBDAFC935C1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7A64D893-9924-47B2-B895-6C90612B98FC}" type="pres">
      <dgm:prSet presAssocID="{A6544C90-38DD-45EC-B424-BEBDAFC935C1}" presName="descendantText" presStyleLbl="alignAcc1" presStyleIdx="2" presStyleCnt="5">
        <dgm:presLayoutVars>
          <dgm:bulletEnabled val="1"/>
        </dgm:presLayoutVars>
      </dgm:prSet>
      <dgm:spPr/>
    </dgm:pt>
    <dgm:pt modelId="{7330FC3C-C05E-40B9-AB3E-AE38F181C0E8}" type="pres">
      <dgm:prSet presAssocID="{4C0E8757-4F76-4FAE-85C4-48C7584EDEE6}" presName="sp" presStyleCnt="0"/>
      <dgm:spPr/>
    </dgm:pt>
    <dgm:pt modelId="{2D9A7CA1-1D10-49D6-BA3C-0CB16B855E77}" type="pres">
      <dgm:prSet presAssocID="{2D7DAB09-A2A0-4C46-8284-3431813F0F36}" presName="composite" presStyleCnt="0"/>
      <dgm:spPr/>
    </dgm:pt>
    <dgm:pt modelId="{AB85EC96-205B-4676-A54E-520EAC20D587}" type="pres">
      <dgm:prSet presAssocID="{2D7DAB09-A2A0-4C46-8284-3431813F0F36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F6C4042B-B362-4E6E-8EC6-218BBC461E02}" type="pres">
      <dgm:prSet presAssocID="{2D7DAB09-A2A0-4C46-8284-3431813F0F36}" presName="descendantText" presStyleLbl="alignAcc1" presStyleIdx="3" presStyleCnt="5">
        <dgm:presLayoutVars>
          <dgm:bulletEnabled val="1"/>
        </dgm:presLayoutVars>
      </dgm:prSet>
      <dgm:spPr/>
    </dgm:pt>
    <dgm:pt modelId="{0187B017-F1C6-4534-8999-CF5B03259870}" type="pres">
      <dgm:prSet presAssocID="{2B5A5735-7395-4717-819D-CC4679A0018D}" presName="sp" presStyleCnt="0"/>
      <dgm:spPr/>
    </dgm:pt>
    <dgm:pt modelId="{6639BDA2-7E19-4521-8C20-8B1DD5172AB7}" type="pres">
      <dgm:prSet presAssocID="{42BB68E0-EFC9-44B6-9871-B333609EE160}" presName="composite" presStyleCnt="0"/>
      <dgm:spPr/>
    </dgm:pt>
    <dgm:pt modelId="{7843BEC2-96D6-4355-A021-7D9DF50B9ACC}" type="pres">
      <dgm:prSet presAssocID="{42BB68E0-EFC9-44B6-9871-B333609EE160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76707E34-8C20-4E0D-BC1E-1756C4B39F76}" type="pres">
      <dgm:prSet presAssocID="{42BB68E0-EFC9-44B6-9871-B333609EE160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E013A200-F040-4948-8E98-861DACF7AF6E}" type="presOf" srcId="{2D7DAB09-A2A0-4C46-8284-3431813F0F36}" destId="{AB85EC96-205B-4676-A54E-520EAC20D587}" srcOrd="0" destOrd="0" presId="urn:microsoft.com/office/officeart/2005/8/layout/chevron2"/>
    <dgm:cxn modelId="{FC518F02-8156-4CB9-A935-5A139DB39670}" type="presOf" srcId="{8546073C-45FF-413F-AE93-041B50597BE6}" destId="{76707E34-8C20-4E0D-BC1E-1756C4B39F76}" srcOrd="0" destOrd="0" presId="urn:microsoft.com/office/officeart/2005/8/layout/chevron2"/>
    <dgm:cxn modelId="{21837B23-3AE4-42F3-9D01-9E2B0DDA6B7B}" srcId="{4ACA8F8A-A40E-4D82-8781-A3E5D59C07DF}" destId="{3EBCB46E-319A-4EAC-AA45-18208161AAF8}" srcOrd="0" destOrd="0" parTransId="{16EDF1E1-9E88-4F54-9FCA-4A526DB30981}" sibTransId="{5A2CF31F-E88B-4FF3-9E76-A35FCFF30064}"/>
    <dgm:cxn modelId="{DF7D4E44-0920-4376-BF26-A40B79653F26}" type="presOf" srcId="{3EBCB46E-319A-4EAC-AA45-18208161AAF8}" destId="{4532C0E7-B0C1-4FBD-B33E-4F5DB55704C4}" srcOrd="0" destOrd="0" presId="urn:microsoft.com/office/officeart/2005/8/layout/chevron2"/>
    <dgm:cxn modelId="{01B0156A-6BFD-43C7-B642-69BDD9C1828D}" srcId="{A6544C90-38DD-45EC-B424-BEBDAFC935C1}" destId="{FF307EB5-0FE9-4824-B746-FE3EDF5153B6}" srcOrd="0" destOrd="0" parTransId="{AA1989F5-DCEB-4B86-9E2D-8258EAB0DAB8}" sibTransId="{B1046210-627D-4401-9E49-299F0959CFB8}"/>
    <dgm:cxn modelId="{06F9FA4A-FC33-41A8-A7B8-461BE213FAA5}" srcId="{08DC6F1C-B09F-40E5-B54B-1A3B4042E2F7}" destId="{4ACA8F8A-A40E-4D82-8781-A3E5D59C07DF}" srcOrd="0" destOrd="0" parTransId="{6796262A-9D13-47FD-A46A-229971DC3472}" sibTransId="{3A760D1A-CBBC-4690-BE65-15710BA27464}"/>
    <dgm:cxn modelId="{83918E4B-4B6F-485A-9F6B-87A2FA869DA1}" srcId="{2D7DAB09-A2A0-4C46-8284-3431813F0F36}" destId="{21F3649A-0332-46A2-A0D7-0E53D67D0783}" srcOrd="0" destOrd="0" parTransId="{64333181-B348-4DE0-B5D4-133B97616DFE}" sibTransId="{36623D54-9B5E-46F1-B96E-46536F4487ED}"/>
    <dgm:cxn modelId="{9CFABF6B-8D97-424F-96B2-FB2A113A1C6C}" type="presOf" srcId="{42BB68E0-EFC9-44B6-9871-B333609EE160}" destId="{7843BEC2-96D6-4355-A021-7D9DF50B9ACC}" srcOrd="0" destOrd="0" presId="urn:microsoft.com/office/officeart/2005/8/layout/chevron2"/>
    <dgm:cxn modelId="{4E64B870-EAE2-441F-9B23-46D83EBC897A}" type="presOf" srcId="{A6544C90-38DD-45EC-B424-BEBDAFC935C1}" destId="{3ED51693-D2D3-441E-827F-FDD611BD0013}" srcOrd="0" destOrd="0" presId="urn:microsoft.com/office/officeart/2005/8/layout/chevron2"/>
    <dgm:cxn modelId="{F3B8C459-2487-4F17-932E-7042DB592BFF}" type="presOf" srcId="{52E51567-B939-47B9-B9CD-0555B04B87ED}" destId="{E532D1C9-7743-43C5-88FC-F9A11D2EB339}" srcOrd="0" destOrd="0" presId="urn:microsoft.com/office/officeart/2005/8/layout/chevron2"/>
    <dgm:cxn modelId="{71877099-A4C1-42AF-AAAB-3C70BD717602}" srcId="{52E51567-B939-47B9-B9CD-0555B04B87ED}" destId="{68382DB5-8A5C-42CD-B4A6-9B55264D6619}" srcOrd="0" destOrd="0" parTransId="{56F22D72-88D3-40A4-882A-7028C20FC00E}" sibTransId="{F9E2DE78-9286-408B-8CBB-6F963BEF274C}"/>
    <dgm:cxn modelId="{AD21A0A1-893C-47A3-B639-E8B946DA0FEB}" srcId="{08DC6F1C-B09F-40E5-B54B-1A3B4042E2F7}" destId="{42BB68E0-EFC9-44B6-9871-B333609EE160}" srcOrd="4" destOrd="0" parTransId="{FD50CAC7-68A8-4E7E-B716-4084741BEEE8}" sibTransId="{5BACCA11-158B-456F-83DA-B452E4EFCD6A}"/>
    <dgm:cxn modelId="{46E16BA5-92AB-4B15-AA8E-01C91C95ED2A}" type="presOf" srcId="{68382DB5-8A5C-42CD-B4A6-9B55264D6619}" destId="{1AD8732E-5CAB-44AB-A683-B177FEB8ACC2}" srcOrd="0" destOrd="0" presId="urn:microsoft.com/office/officeart/2005/8/layout/chevron2"/>
    <dgm:cxn modelId="{DDB702AD-76A5-4460-912A-1319DF55FF4B}" srcId="{08DC6F1C-B09F-40E5-B54B-1A3B4042E2F7}" destId="{52E51567-B939-47B9-B9CD-0555B04B87ED}" srcOrd="1" destOrd="0" parTransId="{18FFC2A7-7B21-46CE-849C-E61F3D2ED0D5}" sibTransId="{C272D842-2AF4-4542-A39D-A847B102F9D7}"/>
    <dgm:cxn modelId="{17ADB9C1-F2FF-4D4E-8CBA-5F38605C299B}" srcId="{42BB68E0-EFC9-44B6-9871-B333609EE160}" destId="{8546073C-45FF-413F-AE93-041B50597BE6}" srcOrd="0" destOrd="0" parTransId="{404BB33F-D26D-4453-83FA-19C56EB69F69}" sibTransId="{508FDA14-D6B2-4EBB-823B-A5986F38860C}"/>
    <dgm:cxn modelId="{CEAE03DD-813F-4A12-A894-A3BE193E550E}" type="presOf" srcId="{08DC6F1C-B09F-40E5-B54B-1A3B4042E2F7}" destId="{F8A97A53-5968-4E29-BEB4-DA1FB23E5982}" srcOrd="0" destOrd="0" presId="urn:microsoft.com/office/officeart/2005/8/layout/chevron2"/>
    <dgm:cxn modelId="{8D44C2DD-5A0C-46A7-B655-A98F24921301}" srcId="{08DC6F1C-B09F-40E5-B54B-1A3B4042E2F7}" destId="{A6544C90-38DD-45EC-B424-BEBDAFC935C1}" srcOrd="2" destOrd="0" parTransId="{217C1817-3E52-4600-977F-2AAFA0E463A7}" sibTransId="{4C0E8757-4F76-4FAE-85C4-48C7584EDEE6}"/>
    <dgm:cxn modelId="{35718DF3-1526-44CF-87F2-537A53B0BDED}" srcId="{08DC6F1C-B09F-40E5-B54B-1A3B4042E2F7}" destId="{2D7DAB09-A2A0-4C46-8284-3431813F0F36}" srcOrd="3" destOrd="0" parTransId="{999FAE7C-C98D-4B17-BECE-503B8CDECC81}" sibTransId="{2B5A5735-7395-4717-819D-CC4679A0018D}"/>
    <dgm:cxn modelId="{69C840F4-13DC-4F84-AADE-AFEFD3B375DF}" type="presOf" srcId="{21F3649A-0332-46A2-A0D7-0E53D67D0783}" destId="{F6C4042B-B362-4E6E-8EC6-218BBC461E02}" srcOrd="0" destOrd="0" presId="urn:microsoft.com/office/officeart/2005/8/layout/chevron2"/>
    <dgm:cxn modelId="{D928D0F4-1C18-4C60-B420-6E276C165666}" type="presOf" srcId="{FF307EB5-0FE9-4824-B746-FE3EDF5153B6}" destId="{7A64D893-9924-47B2-B895-6C90612B98FC}" srcOrd="0" destOrd="0" presId="urn:microsoft.com/office/officeart/2005/8/layout/chevron2"/>
    <dgm:cxn modelId="{2296F7FE-AE27-4373-847C-7BE5AEC1F427}" type="presOf" srcId="{4ACA8F8A-A40E-4D82-8781-A3E5D59C07DF}" destId="{6E59DDD7-DB39-4E34-B3BF-78D781F42DA8}" srcOrd="0" destOrd="0" presId="urn:microsoft.com/office/officeart/2005/8/layout/chevron2"/>
    <dgm:cxn modelId="{611E0F3E-95D7-499A-AC37-0A465E39292B}" type="presParOf" srcId="{F8A97A53-5968-4E29-BEB4-DA1FB23E5982}" destId="{0CB7EC0B-0FE8-47D1-89FC-75A527695574}" srcOrd="0" destOrd="0" presId="urn:microsoft.com/office/officeart/2005/8/layout/chevron2"/>
    <dgm:cxn modelId="{8CAFCD01-7748-44AD-A572-2730CA7B1505}" type="presParOf" srcId="{0CB7EC0B-0FE8-47D1-89FC-75A527695574}" destId="{6E59DDD7-DB39-4E34-B3BF-78D781F42DA8}" srcOrd="0" destOrd="0" presId="urn:microsoft.com/office/officeart/2005/8/layout/chevron2"/>
    <dgm:cxn modelId="{FB662714-46F9-4F8C-AC12-848E2B18A804}" type="presParOf" srcId="{0CB7EC0B-0FE8-47D1-89FC-75A527695574}" destId="{4532C0E7-B0C1-4FBD-B33E-4F5DB55704C4}" srcOrd="1" destOrd="0" presId="urn:microsoft.com/office/officeart/2005/8/layout/chevron2"/>
    <dgm:cxn modelId="{92D7A635-78EF-4C07-AB87-3EDF8CA5CB13}" type="presParOf" srcId="{F8A97A53-5968-4E29-BEB4-DA1FB23E5982}" destId="{4D825691-9BC7-4BAF-A4E4-EE81A5FCC701}" srcOrd="1" destOrd="0" presId="urn:microsoft.com/office/officeart/2005/8/layout/chevron2"/>
    <dgm:cxn modelId="{574E2B02-17FB-44CF-9B33-ABA508978AC6}" type="presParOf" srcId="{F8A97A53-5968-4E29-BEB4-DA1FB23E5982}" destId="{C1A019F1-3697-4167-9342-B21D1133B8B9}" srcOrd="2" destOrd="0" presId="urn:microsoft.com/office/officeart/2005/8/layout/chevron2"/>
    <dgm:cxn modelId="{D08F2EEC-B94E-4A83-96EE-B8EA701AD0CA}" type="presParOf" srcId="{C1A019F1-3697-4167-9342-B21D1133B8B9}" destId="{E532D1C9-7743-43C5-88FC-F9A11D2EB339}" srcOrd="0" destOrd="0" presId="urn:microsoft.com/office/officeart/2005/8/layout/chevron2"/>
    <dgm:cxn modelId="{0CF5B513-68CC-40C6-923B-2B01F7FB627C}" type="presParOf" srcId="{C1A019F1-3697-4167-9342-B21D1133B8B9}" destId="{1AD8732E-5CAB-44AB-A683-B177FEB8ACC2}" srcOrd="1" destOrd="0" presId="urn:microsoft.com/office/officeart/2005/8/layout/chevron2"/>
    <dgm:cxn modelId="{18D34D84-69F2-4C4D-A2C6-B9B68B83065E}" type="presParOf" srcId="{F8A97A53-5968-4E29-BEB4-DA1FB23E5982}" destId="{D5358A83-15C9-42E1-8372-2D55B58F30E4}" srcOrd="3" destOrd="0" presId="urn:microsoft.com/office/officeart/2005/8/layout/chevron2"/>
    <dgm:cxn modelId="{8C1E65D6-F711-48A8-B35F-F254C6DBB3E7}" type="presParOf" srcId="{F8A97A53-5968-4E29-BEB4-DA1FB23E5982}" destId="{675C7D0F-C250-49E0-AA88-A21530EE1B3A}" srcOrd="4" destOrd="0" presId="urn:microsoft.com/office/officeart/2005/8/layout/chevron2"/>
    <dgm:cxn modelId="{C9CB8A42-EB66-43CF-961B-725DADCB160E}" type="presParOf" srcId="{675C7D0F-C250-49E0-AA88-A21530EE1B3A}" destId="{3ED51693-D2D3-441E-827F-FDD611BD0013}" srcOrd="0" destOrd="0" presId="urn:microsoft.com/office/officeart/2005/8/layout/chevron2"/>
    <dgm:cxn modelId="{0C20CE55-8BBB-4E8B-8770-80360941C517}" type="presParOf" srcId="{675C7D0F-C250-49E0-AA88-A21530EE1B3A}" destId="{7A64D893-9924-47B2-B895-6C90612B98FC}" srcOrd="1" destOrd="0" presId="urn:microsoft.com/office/officeart/2005/8/layout/chevron2"/>
    <dgm:cxn modelId="{363D888D-C86D-4065-A7C8-E27FFA155F40}" type="presParOf" srcId="{F8A97A53-5968-4E29-BEB4-DA1FB23E5982}" destId="{7330FC3C-C05E-40B9-AB3E-AE38F181C0E8}" srcOrd="5" destOrd="0" presId="urn:microsoft.com/office/officeart/2005/8/layout/chevron2"/>
    <dgm:cxn modelId="{49195DFD-459B-420D-BC91-7853B939C247}" type="presParOf" srcId="{F8A97A53-5968-4E29-BEB4-DA1FB23E5982}" destId="{2D9A7CA1-1D10-49D6-BA3C-0CB16B855E77}" srcOrd="6" destOrd="0" presId="urn:microsoft.com/office/officeart/2005/8/layout/chevron2"/>
    <dgm:cxn modelId="{2567ED2A-D9E8-40C6-B147-E73331424AA9}" type="presParOf" srcId="{2D9A7CA1-1D10-49D6-BA3C-0CB16B855E77}" destId="{AB85EC96-205B-4676-A54E-520EAC20D587}" srcOrd="0" destOrd="0" presId="urn:microsoft.com/office/officeart/2005/8/layout/chevron2"/>
    <dgm:cxn modelId="{BBCDD3A5-D5E0-498E-B867-03D270234A71}" type="presParOf" srcId="{2D9A7CA1-1D10-49D6-BA3C-0CB16B855E77}" destId="{F6C4042B-B362-4E6E-8EC6-218BBC461E02}" srcOrd="1" destOrd="0" presId="urn:microsoft.com/office/officeart/2005/8/layout/chevron2"/>
    <dgm:cxn modelId="{AEAF3408-9AB4-4B5E-82CC-B2BD20510756}" type="presParOf" srcId="{F8A97A53-5968-4E29-BEB4-DA1FB23E5982}" destId="{0187B017-F1C6-4534-8999-CF5B03259870}" srcOrd="7" destOrd="0" presId="urn:microsoft.com/office/officeart/2005/8/layout/chevron2"/>
    <dgm:cxn modelId="{61ECA413-F204-467D-8497-B79CEE9F438D}" type="presParOf" srcId="{F8A97A53-5968-4E29-BEB4-DA1FB23E5982}" destId="{6639BDA2-7E19-4521-8C20-8B1DD5172AB7}" srcOrd="8" destOrd="0" presId="urn:microsoft.com/office/officeart/2005/8/layout/chevron2"/>
    <dgm:cxn modelId="{6A564ED6-0402-4676-A25F-800B6B73AE65}" type="presParOf" srcId="{6639BDA2-7E19-4521-8C20-8B1DD5172AB7}" destId="{7843BEC2-96D6-4355-A021-7D9DF50B9ACC}" srcOrd="0" destOrd="0" presId="urn:microsoft.com/office/officeart/2005/8/layout/chevron2"/>
    <dgm:cxn modelId="{D231EF24-8192-4B54-8520-339F70E1B27D}" type="presParOf" srcId="{6639BDA2-7E19-4521-8C20-8B1DD5172AB7}" destId="{76707E34-8C20-4E0D-BC1E-1756C4B39F7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9DDD7-DB39-4E34-B3BF-78D781F42DA8}">
      <dsp:nvSpPr>
        <dsp:cNvPr id="0" name=""/>
        <dsp:cNvSpPr/>
      </dsp:nvSpPr>
      <dsp:spPr>
        <a:xfrm rot="5400000">
          <a:off x="-152310" y="152923"/>
          <a:ext cx="1015404" cy="71078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F1</a:t>
          </a:r>
        </a:p>
      </dsp:txBody>
      <dsp:txXfrm rot="-5400000">
        <a:off x="1" y="356005"/>
        <a:ext cx="710783" cy="304621"/>
      </dsp:txXfrm>
    </dsp:sp>
    <dsp:sp modelId="{4532C0E7-B0C1-4FBD-B33E-4F5DB55704C4}">
      <dsp:nvSpPr>
        <dsp:cNvPr id="0" name=""/>
        <dsp:cNvSpPr/>
      </dsp:nvSpPr>
      <dsp:spPr>
        <a:xfrm rot="5400000">
          <a:off x="2861535" y="-2150139"/>
          <a:ext cx="660012" cy="49615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Fall Event Detection</a:t>
          </a:r>
        </a:p>
      </dsp:txBody>
      <dsp:txXfrm rot="-5400000">
        <a:off x="710784" y="32831"/>
        <a:ext cx="4929297" cy="595574"/>
      </dsp:txXfrm>
    </dsp:sp>
    <dsp:sp modelId="{E532D1C9-7743-43C5-88FC-F9A11D2EB339}">
      <dsp:nvSpPr>
        <dsp:cNvPr id="0" name=""/>
        <dsp:cNvSpPr/>
      </dsp:nvSpPr>
      <dsp:spPr>
        <a:xfrm rot="5400000">
          <a:off x="-152310" y="1050232"/>
          <a:ext cx="1015404" cy="71078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136400"/>
                <a:satOff val="-14223"/>
                <a:lumOff val="95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136400"/>
                <a:satOff val="-14223"/>
                <a:lumOff val="95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136400"/>
                <a:satOff val="-14223"/>
                <a:lumOff val="95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shade val="80000"/>
              <a:hueOff val="136400"/>
              <a:satOff val="-14223"/>
              <a:lumOff val="955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F2</a:t>
          </a:r>
        </a:p>
      </dsp:txBody>
      <dsp:txXfrm rot="-5400000">
        <a:off x="1" y="1253314"/>
        <a:ext cx="710783" cy="304621"/>
      </dsp:txXfrm>
    </dsp:sp>
    <dsp:sp modelId="{1AD8732E-5CAB-44AB-A683-B177FEB8ACC2}">
      <dsp:nvSpPr>
        <dsp:cNvPr id="0" name=""/>
        <dsp:cNvSpPr/>
      </dsp:nvSpPr>
      <dsp:spPr>
        <a:xfrm rot="5400000">
          <a:off x="2861535" y="-1252830"/>
          <a:ext cx="660012" cy="49615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136400"/>
              <a:satOff val="-14223"/>
              <a:lumOff val="95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Post-fall Situation Assessment</a:t>
          </a:r>
        </a:p>
      </dsp:txBody>
      <dsp:txXfrm rot="-5400000">
        <a:off x="710784" y="930140"/>
        <a:ext cx="4929297" cy="595574"/>
      </dsp:txXfrm>
    </dsp:sp>
    <dsp:sp modelId="{3ED51693-D2D3-441E-827F-FDD611BD0013}">
      <dsp:nvSpPr>
        <dsp:cNvPr id="0" name=""/>
        <dsp:cNvSpPr/>
      </dsp:nvSpPr>
      <dsp:spPr>
        <a:xfrm rot="5400000">
          <a:off x="-152310" y="1947541"/>
          <a:ext cx="1015404" cy="71078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272799"/>
                <a:satOff val="-28446"/>
                <a:lumOff val="1911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272799"/>
                <a:satOff val="-28446"/>
                <a:lumOff val="1911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272799"/>
                <a:satOff val="-28446"/>
                <a:lumOff val="1911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F3</a:t>
          </a:r>
        </a:p>
      </dsp:txBody>
      <dsp:txXfrm rot="-5400000">
        <a:off x="1" y="2150623"/>
        <a:ext cx="710783" cy="304621"/>
      </dsp:txXfrm>
    </dsp:sp>
    <dsp:sp modelId="{7A64D893-9924-47B2-B895-6C90612B98FC}">
      <dsp:nvSpPr>
        <dsp:cNvPr id="0" name=""/>
        <dsp:cNvSpPr/>
      </dsp:nvSpPr>
      <dsp:spPr>
        <a:xfrm rot="5400000">
          <a:off x="2861535" y="-355521"/>
          <a:ext cx="660012" cy="49615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Indoor Fall Location Identification</a:t>
          </a:r>
        </a:p>
      </dsp:txBody>
      <dsp:txXfrm rot="-5400000">
        <a:off x="710784" y="1827449"/>
        <a:ext cx="4929297" cy="595574"/>
      </dsp:txXfrm>
    </dsp:sp>
    <dsp:sp modelId="{AB85EC96-205B-4676-A54E-520EAC20D587}">
      <dsp:nvSpPr>
        <dsp:cNvPr id="0" name=""/>
        <dsp:cNvSpPr/>
      </dsp:nvSpPr>
      <dsp:spPr>
        <a:xfrm rot="5400000">
          <a:off x="-152310" y="2844850"/>
          <a:ext cx="1015404" cy="71078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409199"/>
                <a:satOff val="-42669"/>
                <a:lumOff val="2866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409199"/>
                <a:satOff val="-42669"/>
                <a:lumOff val="2866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409199"/>
                <a:satOff val="-42669"/>
                <a:lumOff val="2866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shade val="80000"/>
              <a:hueOff val="409199"/>
              <a:satOff val="-42669"/>
              <a:lumOff val="28666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F4</a:t>
          </a:r>
        </a:p>
      </dsp:txBody>
      <dsp:txXfrm rot="-5400000">
        <a:off x="1" y="3047932"/>
        <a:ext cx="710783" cy="304621"/>
      </dsp:txXfrm>
    </dsp:sp>
    <dsp:sp modelId="{F6C4042B-B362-4E6E-8EC6-218BBC461E02}">
      <dsp:nvSpPr>
        <dsp:cNvPr id="0" name=""/>
        <dsp:cNvSpPr/>
      </dsp:nvSpPr>
      <dsp:spPr>
        <a:xfrm rot="5400000">
          <a:off x="2861535" y="541787"/>
          <a:ext cx="660012" cy="49615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409199"/>
              <a:satOff val="-42669"/>
              <a:lumOff val="2866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kern="1200" dirty="0"/>
            <a:t>Decision &amp; Alerting</a:t>
          </a:r>
        </a:p>
      </dsp:txBody>
      <dsp:txXfrm rot="-5400000">
        <a:off x="710784" y="2724758"/>
        <a:ext cx="4929297" cy="595574"/>
      </dsp:txXfrm>
    </dsp:sp>
    <dsp:sp modelId="{7843BEC2-96D6-4355-A021-7D9DF50B9ACC}">
      <dsp:nvSpPr>
        <dsp:cNvPr id="0" name=""/>
        <dsp:cNvSpPr/>
      </dsp:nvSpPr>
      <dsp:spPr>
        <a:xfrm rot="5400000">
          <a:off x="-152310" y="3742159"/>
          <a:ext cx="1015404" cy="710783"/>
        </a:xfrm>
        <a:prstGeom prst="chevron">
          <a:avLst/>
        </a:prstGeom>
        <a:gradFill rotWithShape="0">
          <a:gsLst>
            <a:gs pos="0">
              <a:schemeClr val="accent1">
                <a:shade val="80000"/>
                <a:hueOff val="545598"/>
                <a:satOff val="-56892"/>
                <a:lumOff val="382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545598"/>
                <a:satOff val="-56892"/>
                <a:lumOff val="382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545598"/>
                <a:satOff val="-56892"/>
                <a:lumOff val="382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F5</a:t>
          </a:r>
        </a:p>
      </dsp:txBody>
      <dsp:txXfrm rot="-5400000">
        <a:off x="1" y="3945241"/>
        <a:ext cx="710783" cy="304621"/>
      </dsp:txXfrm>
    </dsp:sp>
    <dsp:sp modelId="{76707E34-8C20-4E0D-BC1E-1756C4B39F76}">
      <dsp:nvSpPr>
        <dsp:cNvPr id="0" name=""/>
        <dsp:cNvSpPr/>
      </dsp:nvSpPr>
      <dsp:spPr>
        <a:xfrm rot="5400000">
          <a:off x="2861535" y="1439096"/>
          <a:ext cx="660012" cy="49615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3576" tIns="14605" rIns="14605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Post-event Analysis &amp; Optimization</a:t>
          </a:r>
        </a:p>
      </dsp:txBody>
      <dsp:txXfrm rot="-5400000">
        <a:off x="710784" y="3622067"/>
        <a:ext cx="4929297" cy="595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6822E-590A-4310-BDE5-D3B5040C6C67}" type="datetimeFigureOut">
              <a:rPr lang="fr-FR" smtClean="0"/>
              <a:t>25/12/2025</a:t>
            </a:fld>
            <a:endParaRPr lang="fr-FR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67261-FD7A-448A-805B-495A40C5357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39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023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行为 → 事件 → 分析 → 决策 → 优化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156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8528-0723-9AA1-74AD-89838758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57983F-4FDE-7A91-10C2-EDF401455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77EED3-FDAE-8A27-3B78-7149383A1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CEFE6-B531-A87E-E79C-2E3D92964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3653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011A1-43BC-8041-DF7E-7FC24CCC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B7D8B3-37CD-F7BE-E4FA-82FA5C16A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BCEF9A-1F04-F393-05E7-A9FA0835B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A5BEB-D709-F7B5-2666-6AEBA6FC9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545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857AA-F88F-0F90-AB4B-EC6B0BAA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9E34F2-23C2-B5A7-5B7E-A67BEBB6E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B2A739-3B8A-991D-2003-196749B95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EB4F37-67B0-D75C-E03B-74A6D1C28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584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1798-31A1-0F96-6166-71227FD0B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6E8274-F57B-D1AD-8AAF-75EE9BAF8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1BC617-8E18-D41B-2AED-5424CD6C7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FF06CA-85EA-C0C9-307B-AB546FBB1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047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F2F9-DE10-9D40-543B-A4CF01587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C916BE-9728-71A5-E27B-F64F9E91C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DC8939-EAA2-33F2-1F4E-AC38AFA22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446F35-CB86-E4FD-D301-BC851FE3F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25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652A5-A3B0-9D1A-AD33-23B520B4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31295-D02F-D7CE-6727-6EF1E19D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A9D300-0007-0F0E-DFD3-09513B4E5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9C1657-A01E-F1AF-9DAF-4B22A7A2D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035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838B2-E951-9E40-20EE-B6B3E188D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A20ABA-C2EA-A297-8281-A430EAE3F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48278F-8119-6DE8-42C0-9AD29F9F8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50BF6B-25F4-B9FB-8CF6-3EA8FF3AF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488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9503E-CF3A-0865-EFF8-534AC45C1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D199BC-51F9-2CC2-53B4-5F2BEE7E2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3CA2B2-BCEB-178A-D072-70DA2CEC4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5D2A73-6614-C3C8-1FB9-E6DB05F40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6711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C2C6-2B4A-CE04-DCCE-A10C83959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A21507-6BA6-041A-E340-649363FE0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F37090-47FB-4A16-17F8-00FF23A15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A4C4BC-7822-7A3F-C25D-D0A2DAB63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467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CDFB-C267-9207-67B7-AA3C2D10E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786952-A9B3-D1B8-60AF-C2953F6F4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5E4380-13C3-61E3-AA68-16A7D9F32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02F742-C2EC-F574-D268-AA3E0DCE5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301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9D6B-897D-A72E-411B-40F3A2DB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AD82D8-CB3A-C7CA-3A5B-F60C5371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F65550-6477-6CE5-D418-CB8E0CB06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015FD9-127B-7D20-E77F-B7A063AC4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385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F4153-EB56-907A-7B8B-9E34C59C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B7C254-0886-0EA0-0C36-933A61B8E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463674-B47B-8413-9394-E9031EFD3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15EE4C-272A-1BDF-052D-FE28229E4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57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48FB8-67AE-A3E5-6822-B40FF0D1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AE01EB-E50A-19AA-D1C2-AD6C5C3B0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0F57FD-1B8D-2A01-C418-D586D4FBA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5930B-C372-8CB5-6FB3-A572665F8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67261-FD7A-448A-805B-495A40C5357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52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0CF12B-08E3-6BE3-7094-212CB3B39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0DBE9F-4DAE-125E-E295-5D4D41295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fr-FR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73425-E1BE-D30F-C379-655FC1E0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BA8AB-86A8-4915-99FA-DE8E6894D858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260EDF-02E3-5387-3EE0-C7CE0C92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AAE4C5-28E1-4C01-DAF0-A896DB3B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782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F787F-06B4-7119-1AB4-17320F64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9749F-A480-C9C4-C5A0-9C489B9DB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9E337-F207-9EFB-1AC7-2295AEE6B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6BF86-C159-420B-81AC-8478DBE92859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AE9BC-7673-FD7B-B303-F90085A6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D2460C-55AC-AFB5-B69D-008DD179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192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5CFD23-0530-F846-08AF-ADCEC2DF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DE217-A5A3-EA6C-396B-6AF485390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E7FB56-575E-7E8B-2711-2C1DA0E01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1DC63-2BF4-4592-9279-06966E36D9D9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A0A53-7886-0EB5-AD19-8F4855C8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788DCF-7058-B25E-9A8E-F7AF9455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64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0053B-93F2-D09C-4A04-236844D5A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D045C-81C3-B808-46DE-1FBE0F167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CC7FE9-B868-902E-E470-529913565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8543CA-9906-444B-8EE3-0D095CC10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787E-489E-45DF-A4EA-1C05036F3E72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AB1517-8A56-9FAE-342A-2A4F0128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037E9B-4591-9F27-782B-99FCAAD10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17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67DCC-4D1A-B7C2-1D7A-2479FA6DF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FA3F84-8ADD-4805-9427-EF3E0A23F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7C191E-AF32-CBCF-DE25-A2DAB8978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9B486E-6A4F-E072-C717-DDAF795B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B7A532-1CA8-30EC-298B-B83CED0215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AF2B45-93CD-41D4-12E6-D2FABB7D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E0A9B-02A3-4087-B539-13E411F34DF8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F1499EE-B54E-993F-63A0-392D119C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5F490C-D054-0CD5-D178-CBBE783A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24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44D6F-8816-A974-B53F-D3E60784B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9D2A65-6F0E-98DB-162F-4490AA1EF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3A0E-1BF6-4E8A-8E6A-A94A6B709714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2F2867-B747-F67B-A992-1B2E478E6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F4484E-950A-0E21-3DCF-D63A15667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205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580D2F-4FA5-0BB3-A1F6-151E3ABE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1ACB7-9530-48C2-8C07-D4B12B202C06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C8A99A-D7B6-86CC-870F-134941A0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393B5A-F2CB-4038-81C2-9FA4D483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7421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EEFCE-601E-1FB8-0FA6-B17739C1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974B16-114E-EDFA-43D5-1D8A639D0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7BF84A-7051-F573-410A-7A5160EB8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374445-370C-3002-7495-5FC5014E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440CA-5EAE-4604-A372-E739725043B6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34472D-ED97-C609-5B83-94D7E971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980293-92D1-8E9A-B86C-4B7468CC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56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EFC63-A61A-8FFF-810E-96711A0B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E98CC4-D09D-25E0-E185-301A3EE1B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646527-3368-516C-DE82-59082D285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1DC3DF-FD13-0521-427B-F318395C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22D6C-70AF-46D9-B0BD-FDADBB2D53B3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8A1C2-ECC3-1A99-1AB9-A4BA8B9F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32B67A-5BB1-E0C7-4DA6-74072E4F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627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EC949-15EF-CA2D-55E9-211906B55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C6ABA6-ABFF-A743-E7C4-102C36460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2D56C4-5820-6648-121F-D1C44C6F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F494-E57F-4126-847D-B1920F7FCB4B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B27558-90FB-F964-C6E8-852DB6E7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A478C-BB25-9A02-D1DE-DBA180DC2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955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2A390F-0F7D-AD22-5710-D88F3153B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18E16B2-2B76-3CFB-E0AE-384115723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B70DC-12A2-8AB5-6BF4-0D0FF181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00D45-7B3B-444E-8D4C-554A59DC2975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67D85C-EE8A-06EA-7A8E-7B2352C3E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C8D508-AD64-12CE-A30C-47A95122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13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796A3B-B89C-2752-1FE1-25D9139F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fr-FR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5ED036-7319-E47B-C874-662983FE8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fr-FR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EF2757-1D46-43EF-465E-B3F609D12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FA8A-7A4F-490F-BDFC-00084B313382}" type="datetime1">
              <a:rPr lang="zh-CN" altLang="en-US" smtClean="0"/>
              <a:t>2025/12/25</a:t>
            </a:fld>
            <a:endParaRPr lang="fr-FR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DA4F7-8159-F8E5-F368-9137C26C3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0116B-9E4D-83B6-D49F-F971B517F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61A53-97B9-45D3-8032-A1B8FD9B3B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261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3.jpeg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2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image" Target="../media/image22.png"/><Relationship Id="rId18" Type="http://schemas.openxmlformats.org/officeDocument/2006/relationships/image" Target="../media/image27.sv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5.svg"/><Relationship Id="rId20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20.png"/><Relationship Id="rId24" Type="http://schemas.openxmlformats.org/officeDocument/2006/relationships/image" Target="../media/image33.svg"/><Relationship Id="rId5" Type="http://schemas.openxmlformats.org/officeDocument/2006/relationships/image" Target="../media/image3.jpe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sv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Relationship Id="rId22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4E31C-69BA-0638-D361-446FA1E9A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489" y="3126526"/>
            <a:ext cx="11243022" cy="10049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/>
              <a:t>Wearable-based Fall Detection </a:t>
            </a:r>
            <a:br>
              <a:rPr lang="en-US" sz="3200" b="1" dirty="0"/>
            </a:br>
            <a:r>
              <a:rPr lang="en-US" sz="3200" b="1" dirty="0"/>
              <a:t>with Indoor Localization Context for Healthcare Environments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6D5498-20EE-5053-95C4-C9429584E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5677" y="426197"/>
            <a:ext cx="9144000" cy="747125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Indoor Localization System for Patient Behavior Analysis </a:t>
            </a:r>
            <a:b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in the Context of Connected Healthcare </a:t>
            </a:r>
            <a:endParaRPr lang="fr-FR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12A083A-D06C-8EBF-1511-93796A861A1D}"/>
              </a:ext>
            </a:extLst>
          </p:cNvPr>
          <p:cNvGrpSpPr/>
          <p:nvPr/>
        </p:nvGrpSpPr>
        <p:grpSpPr>
          <a:xfrm>
            <a:off x="1644941" y="1464124"/>
            <a:ext cx="8725472" cy="1371600"/>
            <a:chOff x="1524000" y="173274"/>
            <a:chExt cx="8725472" cy="1371600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D4AF3C07-3B87-9FA9-9E45-0DF978D4A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422265"/>
              <a:ext cx="2250832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1BB621C-3B4A-BD74-0E99-8E24E52C32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2740" y="436640"/>
              <a:ext cx="2166732" cy="914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7CA32276-1BB8-3872-13FD-0C561D109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877" y="173274"/>
              <a:ext cx="1371600" cy="1371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97E2372-F598-1269-CF04-FD52B8E3C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21471"/>
              </p:ext>
            </p:extLst>
          </p:nvPr>
        </p:nvGraphicFramePr>
        <p:xfrm>
          <a:off x="2878315" y="4827453"/>
          <a:ext cx="2034915" cy="917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915">
                  <a:extLst>
                    <a:ext uri="{9D8B030D-6E8A-4147-A177-3AD203B41FA5}">
                      <a16:colId xmlns:a16="http://schemas.microsoft.com/office/drawing/2014/main" val="3963832"/>
                    </a:ext>
                  </a:extLst>
                </a:gridCol>
              </a:tblGrid>
              <a:tr h="458971">
                <a:tc>
                  <a:txBody>
                    <a:bodyPr/>
                    <a:lstStyle/>
                    <a:p>
                      <a:r>
                        <a:rPr lang="en-GB" altLang="zh-CN" b="0" dirty="0">
                          <a:solidFill>
                            <a:schemeClr val="tx1"/>
                          </a:solidFill>
                        </a:rPr>
                        <a:t>PhD Researcher: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849209"/>
                  </a:ext>
                </a:extLst>
              </a:tr>
              <a:tr h="458971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Xiaofan GUO</a:t>
                      </a:r>
                      <a:endParaRPr lang="zh-CN" altLang="en-US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26245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3DE2507-86CA-C238-041B-65EEC3AF2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889022"/>
              </p:ext>
            </p:extLst>
          </p:nvPr>
        </p:nvGraphicFramePr>
        <p:xfrm>
          <a:off x="7605326" y="4574743"/>
          <a:ext cx="2974351" cy="1423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68">
                  <a:extLst>
                    <a:ext uri="{9D8B030D-6E8A-4147-A177-3AD203B41FA5}">
                      <a16:colId xmlns:a16="http://schemas.microsoft.com/office/drawing/2014/main" val="3963832"/>
                    </a:ext>
                  </a:extLst>
                </a:gridCol>
                <a:gridCol w="922083">
                  <a:extLst>
                    <a:ext uri="{9D8B030D-6E8A-4147-A177-3AD203B41FA5}">
                      <a16:colId xmlns:a16="http://schemas.microsoft.com/office/drawing/2014/main" val="459583539"/>
                    </a:ext>
                  </a:extLst>
                </a:gridCol>
              </a:tblGrid>
              <a:tr h="417522">
                <a:tc gridSpan="2">
                  <a:txBody>
                    <a:bodyPr/>
                    <a:lstStyle/>
                    <a:p>
                      <a:r>
                        <a:rPr lang="en-GB" altLang="zh-CN" sz="1800" b="0" dirty="0">
                          <a:solidFill>
                            <a:schemeClr val="tx1"/>
                          </a:solidFill>
                        </a:rPr>
                        <a:t>Supervisors:</a:t>
                      </a:r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849209"/>
                  </a:ext>
                </a:extLst>
              </a:tr>
              <a:tr h="305001">
                <a:tc>
                  <a:txBody>
                    <a:bodyPr/>
                    <a:lstStyle/>
                    <a:p>
                      <a:r>
                        <a:rPr lang="en-GB" altLang="zh-CN" sz="1600" b="1" dirty="0"/>
                        <a:t>Dr. Wafa NJIMA</a:t>
                      </a:r>
                      <a:endParaRPr lang="zh-CN" alt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altLang="zh-CN" sz="1600" dirty="0"/>
                        <a:t>ISEP</a:t>
                      </a:r>
                      <a:endParaRPr lang="zh-CN" alt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262454"/>
                  </a:ext>
                </a:extLst>
              </a:tr>
              <a:tr h="305001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Dr. Hedi YAZID</a:t>
                      </a:r>
                      <a:endParaRPr lang="zh-CN" alt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ISEP</a:t>
                      </a:r>
                      <a:endParaRPr lang="zh-CN" altLang="en-US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816807"/>
                  </a:ext>
                </a:extLst>
              </a:tr>
              <a:tr h="305001">
                <a:tc>
                  <a:txBody>
                    <a:bodyPr/>
                    <a:lstStyle/>
                    <a:p>
                      <a:r>
                        <a:rPr lang="en-US" altLang="zh-CN" sz="1600" b="1" dirty="0"/>
                        <a:t>Dr. </a:t>
                      </a:r>
                      <a:r>
                        <a:rPr lang="en-US" altLang="zh-CN" sz="1600" b="1" dirty="0" err="1"/>
                        <a:t>Huaqiong</a:t>
                      </a:r>
                      <a:r>
                        <a:rPr lang="en-US" altLang="zh-CN" sz="1600" b="1" dirty="0"/>
                        <a:t> LI</a:t>
                      </a:r>
                      <a:endParaRPr lang="zh-CN" altLang="en-US" sz="1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/>
                        <a:t>UCAS</a:t>
                      </a:r>
                      <a:endParaRPr lang="zh-CN" altLang="en-US" sz="16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780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7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19A06-4182-DA55-EDF5-F5FFEA53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b="1" dirty="0"/>
              <a:t>Global Agenda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641FC-5FCC-FFD1-F805-2CF743C93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2041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 action="ppaction://hlinksldjump"/>
              </a:rPr>
              <a:t>Progress Update I</a:t>
            </a:r>
            <a:endParaRPr lang="en-US" noProof="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720F3-F49D-2D37-0830-AABC3017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2</a:t>
            </a:fld>
            <a:endParaRPr lang="fr-FR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544835-7F5D-BA9A-B887-7B68856397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793374" y="98990"/>
            <a:ext cx="4318782" cy="677615"/>
            <a:chOff x="7793374" y="98990"/>
            <a:chExt cx="4318782" cy="677615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D1BCEA-FBC8-C4A6-5E6F-E3A6C5265BF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3374" y="98990"/>
              <a:ext cx="157558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D9329BDF-678B-498C-AE31-C6944537A2A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5444" y="98990"/>
              <a:ext cx="151671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A6354F45-715D-CF1A-E54C-2E63F410584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9660643" y="136525"/>
              <a:ext cx="643114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3988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3C8745-E1D3-894B-687B-434046677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56341"/>
            <a:ext cx="10515600" cy="2852737"/>
          </a:xfrm>
        </p:spPr>
        <p:txBody>
          <a:bodyPr anchor="t" anchorCtr="0"/>
          <a:lstStyle/>
          <a:p>
            <a:pPr>
              <a:lnSpc>
                <a:spcPct val="100000"/>
              </a:lnSpc>
            </a:pPr>
            <a:r>
              <a:rPr lang="en-US" b="1" dirty="0"/>
              <a:t>Update 1</a:t>
            </a:r>
            <a:br>
              <a:rPr lang="en-US" dirty="0"/>
            </a:br>
            <a:r>
              <a:rPr lang="en-US" dirty="0"/>
              <a:t>Project Setup &amp; System Design</a:t>
            </a:r>
            <a:endParaRPr lang="fr-FR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7CCE3D-999B-5669-8616-5B562C29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90727"/>
            <a:ext cx="5745683" cy="2939196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Agenda</a:t>
            </a:r>
            <a:endParaRPr lang="en-US" sz="2800" b="1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Motivation and Problem Definition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System-Level Design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Functional Pipeline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Sensing and Data Overview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Expected Outcomes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2EB14-9537-1081-87F7-D56BDEA7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3</a:t>
            </a:fld>
            <a:endParaRPr lang="fr-FR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EB0AC73-2009-B93C-5812-C3D42B6BEA8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793374" y="98990"/>
            <a:ext cx="4318782" cy="677615"/>
            <a:chOff x="7793374" y="98990"/>
            <a:chExt cx="4318782" cy="677615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C5B08E4-A609-3CB1-7DFE-C0BB753101E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3374" y="98990"/>
              <a:ext cx="157558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41ED8319-2FD1-57E5-745D-5EBFD32D495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5444" y="98990"/>
              <a:ext cx="151671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8A94478B-6AC2-2A2D-6657-B60CDCF45F1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9660643" y="136525"/>
              <a:ext cx="643114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3C590C3A-6F70-15CA-3FEE-74961597893F}"/>
              </a:ext>
            </a:extLst>
          </p:cNvPr>
          <p:cNvSpPr txBox="1">
            <a:spLocks/>
          </p:cNvSpPr>
          <p:nvPr/>
        </p:nvSpPr>
        <p:spPr>
          <a:xfrm>
            <a:off x="3798415" y="6229923"/>
            <a:ext cx="4595169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Time Scope:  </a:t>
            </a:r>
            <a:r>
              <a:rPr lang="en-US" sz="2000" dirty="0">
                <a:solidFill>
                  <a:schemeClr val="tx1"/>
                </a:solidFill>
              </a:rPr>
              <a:t>22 Dec 2025 – 5 Jan 2026</a:t>
            </a:r>
          </a:p>
        </p:txBody>
      </p:sp>
    </p:spTree>
    <p:extLst>
      <p:ext uri="{BB962C8B-B14F-4D97-AF65-F5344CB8AC3E}">
        <p14:creationId xmlns:p14="http://schemas.microsoft.com/office/powerpoint/2010/main" val="1844727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0CBE7-5FA3-B64E-C6C5-4CEA8FD7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noProof="0" dirty="0"/>
              <a:t>1.1 Motivation &amp; Background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151CF-9597-D4EA-6E73-6A26D8E69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2982927"/>
          </a:xfrm>
        </p:spPr>
        <p:txBody>
          <a:bodyPr/>
          <a:lstStyle/>
          <a:p>
            <a:pPr marL="0" indent="0">
              <a:buNone/>
            </a:pPr>
            <a:r>
              <a:rPr lang="en-US" b="1" noProof="0" dirty="0"/>
              <a:t>Motivation</a:t>
            </a:r>
          </a:p>
          <a:p>
            <a:pPr lvl="1"/>
            <a:r>
              <a:rPr lang="en-US" u="sng" noProof="0" dirty="0"/>
              <a:t>Reliable</a:t>
            </a:r>
            <a:r>
              <a:rPr lang="en-US" noProof="0" dirty="0"/>
              <a:t> and </a:t>
            </a:r>
            <a:r>
              <a:rPr lang="en-US" u="sng" dirty="0"/>
              <a:t>t</a:t>
            </a:r>
            <a:r>
              <a:rPr lang="en-US" u="sng" noProof="0" dirty="0" err="1"/>
              <a:t>imely</a:t>
            </a:r>
            <a:r>
              <a:rPr lang="en-US" noProof="0" dirty="0"/>
              <a:t> interpretation of patient behavior and location</a:t>
            </a:r>
          </a:p>
          <a:p>
            <a:pPr marL="457200" lvl="1" indent="0">
              <a:buNone/>
            </a:pPr>
            <a:r>
              <a:rPr lang="en-US" noProof="0" dirty="0"/>
              <a:t>	are essential to enable </a:t>
            </a:r>
            <a:r>
              <a:rPr lang="en-US" u="sng" noProof="0" dirty="0"/>
              <a:t>rapid medical intervention </a:t>
            </a:r>
            <a:r>
              <a:rPr lang="en-US" noProof="0" dirty="0"/>
              <a:t>and </a:t>
            </a:r>
            <a:r>
              <a:rPr lang="en-US" u="sng" noProof="0" dirty="0"/>
              <a:t>reduce risks</a:t>
            </a:r>
            <a:r>
              <a:rPr lang="en-US" noProof="0" dirty="0"/>
              <a:t>.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en-US" altLang="zh-CN" sz="2800" b="1" dirty="0"/>
              <a:t>Background</a:t>
            </a:r>
          </a:p>
          <a:p>
            <a:pPr lvl="1"/>
            <a:r>
              <a:rPr lang="en-US" dirty="0"/>
              <a:t>Falls are among the most critical and time-sensitive patient behaviors.</a:t>
            </a:r>
          </a:p>
          <a:p>
            <a:pPr lvl="1"/>
            <a:r>
              <a:rPr lang="en-US" dirty="0"/>
              <a:t>IPS</a:t>
            </a:r>
            <a:r>
              <a:rPr lang="en-US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*</a:t>
            </a:r>
            <a:r>
              <a:rPr lang="en-US" dirty="0"/>
              <a:t> are increasingly deployed in healthcare environments.</a:t>
            </a:r>
          </a:p>
          <a:p>
            <a:pPr lvl="1"/>
            <a:r>
              <a:rPr lang="en-US" dirty="0"/>
              <a:t>Wearable devices (watch) are widely available and mature.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1A3093-EAB4-9ABD-91E1-9CD85DCC4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4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04BF8E6-8332-62CC-B016-F7E94AB92C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C9493E42-C085-E24F-3260-D0FBA3AFA28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D8C0C57E-3EAA-B9DE-6221-E769F622BD0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8D110BFD-7308-5215-3E89-409E4D1A79F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2C6EB249-247C-D389-2134-42FBAAC36603}"/>
              </a:ext>
            </a:extLst>
          </p:cNvPr>
          <p:cNvSpPr txBox="1"/>
          <p:nvPr/>
        </p:nvSpPr>
        <p:spPr>
          <a:xfrm>
            <a:off x="838199" y="6352143"/>
            <a:ext cx="8298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IPS 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Indoor Positioning Systems (also referred to as Indoor Localization Systems)</a:t>
            </a:r>
          </a:p>
        </p:txBody>
      </p:sp>
      <p:pic>
        <p:nvPicPr>
          <p:cNvPr id="27" name="图片 26" descr="箭头&#10;&#10;AI 生成的内容可能不正确。">
            <a:extLst>
              <a:ext uri="{FF2B5EF4-FFF2-40B4-BE49-F238E27FC236}">
                <a16:creationId xmlns:a16="http://schemas.microsoft.com/office/drawing/2014/main" id="{6B66885B-1B5A-4113-1747-3756C093E4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5" b="2414"/>
          <a:stretch>
            <a:fillRect/>
          </a:stretch>
        </p:blipFill>
        <p:spPr>
          <a:xfrm>
            <a:off x="838198" y="4227252"/>
            <a:ext cx="3369793" cy="2103120"/>
          </a:xfrm>
          <a:prstGeom prst="rect">
            <a:avLst/>
          </a:prstGeom>
        </p:spPr>
      </p:pic>
      <p:pic>
        <p:nvPicPr>
          <p:cNvPr id="29" name="图片 28" descr="图片包含 图示&#10;&#10;AI 生成的内容可能不正确。">
            <a:extLst>
              <a:ext uri="{FF2B5EF4-FFF2-40B4-BE49-F238E27FC236}">
                <a16:creationId xmlns:a16="http://schemas.microsoft.com/office/drawing/2014/main" id="{31E56FEC-2D27-CAFD-A2D5-80EBCD092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9"/>
          <a:stretch>
            <a:fillRect/>
          </a:stretch>
        </p:blipFill>
        <p:spPr>
          <a:xfrm>
            <a:off x="8693419" y="4218245"/>
            <a:ext cx="2660381" cy="210312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588A88-E3B9-EDD6-A5B6-4599A3115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456" y="4267036"/>
            <a:ext cx="3897429" cy="211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53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0D9B-13C1-F55B-F05B-33999F72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16075-2E4A-7863-DD33-78CA2FA3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noProof="0" dirty="0"/>
              <a:t>1.2 Problem Statement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381BD-40EF-8809-9A67-9006870D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3835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noProof="0" dirty="0"/>
              <a:t>Problem 1 – Fall Interpretation</a:t>
            </a:r>
          </a:p>
          <a:p>
            <a:pPr lvl="1"/>
            <a:r>
              <a:rPr lang="en-US" noProof="0" dirty="0"/>
              <a:t>Falls and daily activities may exhibit similar movement patterns.</a:t>
            </a:r>
          </a:p>
          <a:p>
            <a:pPr lvl="1"/>
            <a:r>
              <a:rPr lang="en-US" noProof="0" dirty="0"/>
              <a:t>Real-time and reliable interpretation of movements in real environments.</a:t>
            </a:r>
          </a:p>
          <a:p>
            <a:pPr lvl="1"/>
            <a:r>
              <a:rPr lang="en-US" noProof="0" dirty="0"/>
              <a:t>Alert triggering and alert severity prioritization (professional decision support).</a:t>
            </a:r>
          </a:p>
          <a:p>
            <a:pPr lvl="1"/>
            <a:endParaRPr lang="en-US" noProof="0" dirty="0"/>
          </a:p>
          <a:p>
            <a:pPr marL="0" lvl="1" indent="0">
              <a:spcBef>
                <a:spcPts val="1000"/>
              </a:spcBef>
              <a:buNone/>
            </a:pPr>
            <a:r>
              <a:rPr lang="en-US" altLang="zh-CN" sz="2800" b="1" dirty="0"/>
              <a:t>Problem 2 – Indoor Localization</a:t>
            </a:r>
          </a:p>
          <a:p>
            <a:pPr lvl="1"/>
            <a:r>
              <a:rPr lang="en-US" dirty="0"/>
              <a:t>Difficulty in determining the exact indoor location of a fall (</a:t>
            </a:r>
            <a:r>
              <a:rPr lang="en-US" altLang="zh-CN" dirty="0"/>
              <a:t>e.g., </a:t>
            </a:r>
            <a:r>
              <a:rPr lang="en-US" dirty="0"/>
              <a:t>room-level).</a:t>
            </a:r>
          </a:p>
          <a:p>
            <a:pPr lvl="1"/>
            <a:r>
              <a:rPr lang="en-US" dirty="0"/>
              <a:t>Timeliness and reliability of indoor location information.</a:t>
            </a:r>
          </a:p>
          <a:p>
            <a:pPr lvl="1"/>
            <a:r>
              <a:rPr lang="en-US" dirty="0"/>
              <a:t>Consistent and accurate representation of location information for alerting.</a:t>
            </a:r>
          </a:p>
          <a:p>
            <a:pPr lvl="1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D5315-8C31-389C-FE89-11421EC47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5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D6A3E8C-4B59-5A37-FBA4-6215572DC4E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CDDB1B5-E7EA-62A5-8FD8-4995F63BDD0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369A1154-74E7-3325-C0D8-3BA99BEB1DB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3E68587E-2A1B-BD54-E432-B6D445076AC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6BFAE5D-FF46-2027-9F1A-874F6D1F2F9A}"/>
              </a:ext>
            </a:extLst>
          </p:cNvPr>
          <p:cNvSpPr/>
          <p:nvPr/>
        </p:nvSpPr>
        <p:spPr>
          <a:xfrm>
            <a:off x="838199" y="5312038"/>
            <a:ext cx="10574868" cy="872067"/>
          </a:xfrm>
          <a:custGeom>
            <a:avLst/>
            <a:gdLst>
              <a:gd name="csX0" fmla="*/ 0 w 10574868"/>
              <a:gd name="csY0" fmla="*/ 0 h 872067"/>
              <a:gd name="csX1" fmla="*/ 872427 w 10574868"/>
              <a:gd name="csY1" fmla="*/ 0 h 872067"/>
              <a:gd name="csX2" fmla="*/ 1427607 w 10574868"/>
              <a:gd name="csY2" fmla="*/ 0 h 872067"/>
              <a:gd name="csX3" fmla="*/ 1877039 w 10574868"/>
              <a:gd name="csY3" fmla="*/ 0 h 872067"/>
              <a:gd name="csX4" fmla="*/ 2643717 w 10574868"/>
              <a:gd name="csY4" fmla="*/ 0 h 872067"/>
              <a:gd name="csX5" fmla="*/ 2987400 w 10574868"/>
              <a:gd name="csY5" fmla="*/ 0 h 872067"/>
              <a:gd name="csX6" fmla="*/ 3331083 w 10574868"/>
              <a:gd name="csY6" fmla="*/ 0 h 872067"/>
              <a:gd name="csX7" fmla="*/ 3992013 w 10574868"/>
              <a:gd name="csY7" fmla="*/ 0 h 872067"/>
              <a:gd name="csX8" fmla="*/ 4758691 w 10574868"/>
              <a:gd name="csY8" fmla="*/ 0 h 872067"/>
              <a:gd name="csX9" fmla="*/ 5631117 w 10574868"/>
              <a:gd name="csY9" fmla="*/ 0 h 872067"/>
              <a:gd name="csX10" fmla="*/ 6503544 w 10574868"/>
              <a:gd name="csY10" fmla="*/ 0 h 872067"/>
              <a:gd name="csX11" fmla="*/ 7270222 w 10574868"/>
              <a:gd name="csY11" fmla="*/ 0 h 872067"/>
              <a:gd name="csX12" fmla="*/ 7719654 w 10574868"/>
              <a:gd name="csY12" fmla="*/ 0 h 872067"/>
              <a:gd name="csX13" fmla="*/ 8274834 w 10574868"/>
              <a:gd name="csY13" fmla="*/ 0 h 872067"/>
              <a:gd name="csX14" fmla="*/ 8935763 w 10574868"/>
              <a:gd name="csY14" fmla="*/ 0 h 872067"/>
              <a:gd name="csX15" fmla="*/ 9279447 w 10574868"/>
              <a:gd name="csY15" fmla="*/ 0 h 872067"/>
              <a:gd name="csX16" fmla="*/ 10574868 w 10574868"/>
              <a:gd name="csY16" fmla="*/ 0 h 872067"/>
              <a:gd name="csX17" fmla="*/ 10574868 w 10574868"/>
              <a:gd name="csY17" fmla="*/ 418592 h 872067"/>
              <a:gd name="csX18" fmla="*/ 10574868 w 10574868"/>
              <a:gd name="csY18" fmla="*/ 872067 h 872067"/>
              <a:gd name="csX19" fmla="*/ 10125436 w 10574868"/>
              <a:gd name="csY19" fmla="*/ 872067 h 872067"/>
              <a:gd name="csX20" fmla="*/ 9781753 w 10574868"/>
              <a:gd name="csY20" fmla="*/ 872067 h 872067"/>
              <a:gd name="csX21" fmla="*/ 9015075 w 10574868"/>
              <a:gd name="csY21" fmla="*/ 872067 h 872067"/>
              <a:gd name="csX22" fmla="*/ 8354146 w 10574868"/>
              <a:gd name="csY22" fmla="*/ 872067 h 872067"/>
              <a:gd name="csX23" fmla="*/ 8010463 w 10574868"/>
              <a:gd name="csY23" fmla="*/ 872067 h 872067"/>
              <a:gd name="csX24" fmla="*/ 7561031 w 10574868"/>
              <a:gd name="csY24" fmla="*/ 872067 h 872067"/>
              <a:gd name="csX25" fmla="*/ 7217347 w 10574868"/>
              <a:gd name="csY25" fmla="*/ 872067 h 872067"/>
              <a:gd name="csX26" fmla="*/ 6873664 w 10574868"/>
              <a:gd name="csY26" fmla="*/ 872067 h 872067"/>
              <a:gd name="csX27" fmla="*/ 6001238 w 10574868"/>
              <a:gd name="csY27" fmla="*/ 872067 h 872067"/>
              <a:gd name="csX28" fmla="*/ 5128811 w 10574868"/>
              <a:gd name="csY28" fmla="*/ 872067 h 872067"/>
              <a:gd name="csX29" fmla="*/ 4256384 w 10574868"/>
              <a:gd name="csY29" fmla="*/ 872067 h 872067"/>
              <a:gd name="csX30" fmla="*/ 3701204 w 10574868"/>
              <a:gd name="csY30" fmla="*/ 872067 h 872067"/>
              <a:gd name="csX31" fmla="*/ 3251772 w 10574868"/>
              <a:gd name="csY31" fmla="*/ 872067 h 872067"/>
              <a:gd name="csX32" fmla="*/ 2696591 w 10574868"/>
              <a:gd name="csY32" fmla="*/ 872067 h 872067"/>
              <a:gd name="csX33" fmla="*/ 2035662 w 10574868"/>
              <a:gd name="csY33" fmla="*/ 872067 h 872067"/>
              <a:gd name="csX34" fmla="*/ 1480482 w 10574868"/>
              <a:gd name="csY34" fmla="*/ 872067 h 872067"/>
              <a:gd name="csX35" fmla="*/ 925301 w 10574868"/>
              <a:gd name="csY35" fmla="*/ 872067 h 872067"/>
              <a:gd name="csX36" fmla="*/ 0 w 10574868"/>
              <a:gd name="csY36" fmla="*/ 872067 h 872067"/>
              <a:gd name="csX37" fmla="*/ 0 w 10574868"/>
              <a:gd name="csY37" fmla="*/ 418592 h 872067"/>
              <a:gd name="csX38" fmla="*/ 0 w 10574868"/>
              <a:gd name="csY38" fmla="*/ 0 h 872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10574868" h="872067" fill="none" extrusionOk="0">
                <a:moveTo>
                  <a:pt x="0" y="0"/>
                </a:moveTo>
                <a:cubicBezTo>
                  <a:pt x="415569" y="37876"/>
                  <a:pt x="438819" y="-42466"/>
                  <a:pt x="872427" y="0"/>
                </a:cubicBezTo>
                <a:cubicBezTo>
                  <a:pt x="1306035" y="42466"/>
                  <a:pt x="1266518" y="43"/>
                  <a:pt x="1427607" y="0"/>
                </a:cubicBezTo>
                <a:cubicBezTo>
                  <a:pt x="1588696" y="-43"/>
                  <a:pt x="1746270" y="4227"/>
                  <a:pt x="1877039" y="0"/>
                </a:cubicBezTo>
                <a:cubicBezTo>
                  <a:pt x="2007808" y="-4227"/>
                  <a:pt x="2284513" y="19041"/>
                  <a:pt x="2643717" y="0"/>
                </a:cubicBezTo>
                <a:cubicBezTo>
                  <a:pt x="3002921" y="-19041"/>
                  <a:pt x="2875105" y="-12323"/>
                  <a:pt x="2987400" y="0"/>
                </a:cubicBezTo>
                <a:cubicBezTo>
                  <a:pt x="3099695" y="12323"/>
                  <a:pt x="3211621" y="13995"/>
                  <a:pt x="3331083" y="0"/>
                </a:cubicBezTo>
                <a:cubicBezTo>
                  <a:pt x="3450545" y="-13995"/>
                  <a:pt x="3808035" y="-23439"/>
                  <a:pt x="3992013" y="0"/>
                </a:cubicBezTo>
                <a:cubicBezTo>
                  <a:pt x="4175991" y="23439"/>
                  <a:pt x="4510296" y="-36248"/>
                  <a:pt x="4758691" y="0"/>
                </a:cubicBezTo>
                <a:cubicBezTo>
                  <a:pt x="5007086" y="36248"/>
                  <a:pt x="5366605" y="-23998"/>
                  <a:pt x="5631117" y="0"/>
                </a:cubicBezTo>
                <a:cubicBezTo>
                  <a:pt x="5895629" y="23998"/>
                  <a:pt x="6284418" y="32367"/>
                  <a:pt x="6503544" y="0"/>
                </a:cubicBezTo>
                <a:cubicBezTo>
                  <a:pt x="6722670" y="-32367"/>
                  <a:pt x="7080164" y="-5519"/>
                  <a:pt x="7270222" y="0"/>
                </a:cubicBezTo>
                <a:cubicBezTo>
                  <a:pt x="7460280" y="5519"/>
                  <a:pt x="7607761" y="-8011"/>
                  <a:pt x="7719654" y="0"/>
                </a:cubicBezTo>
                <a:cubicBezTo>
                  <a:pt x="7831547" y="8011"/>
                  <a:pt x="8004106" y="-8896"/>
                  <a:pt x="8274834" y="0"/>
                </a:cubicBezTo>
                <a:cubicBezTo>
                  <a:pt x="8545562" y="8896"/>
                  <a:pt x="8684880" y="28504"/>
                  <a:pt x="8935763" y="0"/>
                </a:cubicBezTo>
                <a:cubicBezTo>
                  <a:pt x="9186646" y="-28504"/>
                  <a:pt x="9119046" y="2337"/>
                  <a:pt x="9279447" y="0"/>
                </a:cubicBezTo>
                <a:cubicBezTo>
                  <a:pt x="9439848" y="-2337"/>
                  <a:pt x="10276925" y="-64145"/>
                  <a:pt x="10574868" y="0"/>
                </a:cubicBezTo>
                <a:cubicBezTo>
                  <a:pt x="10559691" y="94497"/>
                  <a:pt x="10576707" y="332300"/>
                  <a:pt x="10574868" y="418592"/>
                </a:cubicBezTo>
                <a:cubicBezTo>
                  <a:pt x="10573029" y="504884"/>
                  <a:pt x="10569675" y="694564"/>
                  <a:pt x="10574868" y="872067"/>
                </a:cubicBezTo>
                <a:cubicBezTo>
                  <a:pt x="10422698" y="860843"/>
                  <a:pt x="10317981" y="890581"/>
                  <a:pt x="10125436" y="872067"/>
                </a:cubicBezTo>
                <a:cubicBezTo>
                  <a:pt x="9932891" y="853553"/>
                  <a:pt x="9864497" y="857284"/>
                  <a:pt x="9781753" y="872067"/>
                </a:cubicBezTo>
                <a:cubicBezTo>
                  <a:pt x="9699009" y="886850"/>
                  <a:pt x="9306511" y="862882"/>
                  <a:pt x="9015075" y="872067"/>
                </a:cubicBezTo>
                <a:cubicBezTo>
                  <a:pt x="8723639" y="881252"/>
                  <a:pt x="8512998" y="900001"/>
                  <a:pt x="8354146" y="872067"/>
                </a:cubicBezTo>
                <a:cubicBezTo>
                  <a:pt x="8195294" y="844133"/>
                  <a:pt x="8132787" y="874706"/>
                  <a:pt x="8010463" y="872067"/>
                </a:cubicBezTo>
                <a:cubicBezTo>
                  <a:pt x="7888139" y="869428"/>
                  <a:pt x="7742383" y="880197"/>
                  <a:pt x="7561031" y="872067"/>
                </a:cubicBezTo>
                <a:cubicBezTo>
                  <a:pt x="7379679" y="863937"/>
                  <a:pt x="7321713" y="864505"/>
                  <a:pt x="7217347" y="872067"/>
                </a:cubicBezTo>
                <a:cubicBezTo>
                  <a:pt x="7112981" y="879629"/>
                  <a:pt x="6956517" y="868766"/>
                  <a:pt x="6873664" y="872067"/>
                </a:cubicBezTo>
                <a:cubicBezTo>
                  <a:pt x="6790811" y="875368"/>
                  <a:pt x="6222960" y="907392"/>
                  <a:pt x="6001238" y="872067"/>
                </a:cubicBezTo>
                <a:cubicBezTo>
                  <a:pt x="5779516" y="836742"/>
                  <a:pt x="5523579" y="875280"/>
                  <a:pt x="5128811" y="872067"/>
                </a:cubicBezTo>
                <a:cubicBezTo>
                  <a:pt x="4734043" y="868854"/>
                  <a:pt x="4675812" y="876699"/>
                  <a:pt x="4256384" y="872067"/>
                </a:cubicBezTo>
                <a:cubicBezTo>
                  <a:pt x="3836956" y="867435"/>
                  <a:pt x="3840176" y="844495"/>
                  <a:pt x="3701204" y="872067"/>
                </a:cubicBezTo>
                <a:cubicBezTo>
                  <a:pt x="3562232" y="899639"/>
                  <a:pt x="3400965" y="869414"/>
                  <a:pt x="3251772" y="872067"/>
                </a:cubicBezTo>
                <a:cubicBezTo>
                  <a:pt x="3102579" y="874720"/>
                  <a:pt x="2848791" y="882996"/>
                  <a:pt x="2696591" y="872067"/>
                </a:cubicBezTo>
                <a:cubicBezTo>
                  <a:pt x="2544391" y="861138"/>
                  <a:pt x="2195232" y="891319"/>
                  <a:pt x="2035662" y="872067"/>
                </a:cubicBezTo>
                <a:cubicBezTo>
                  <a:pt x="1876092" y="852815"/>
                  <a:pt x="1679309" y="867496"/>
                  <a:pt x="1480482" y="872067"/>
                </a:cubicBezTo>
                <a:cubicBezTo>
                  <a:pt x="1281655" y="876638"/>
                  <a:pt x="1086623" y="882157"/>
                  <a:pt x="925301" y="872067"/>
                </a:cubicBezTo>
                <a:cubicBezTo>
                  <a:pt x="763979" y="861977"/>
                  <a:pt x="365612" y="901190"/>
                  <a:pt x="0" y="872067"/>
                </a:cubicBezTo>
                <a:cubicBezTo>
                  <a:pt x="-10493" y="728888"/>
                  <a:pt x="-5941" y="567303"/>
                  <a:pt x="0" y="418592"/>
                </a:cubicBezTo>
                <a:cubicBezTo>
                  <a:pt x="5941" y="269882"/>
                  <a:pt x="8632" y="125632"/>
                  <a:pt x="0" y="0"/>
                </a:cubicBezTo>
                <a:close/>
              </a:path>
              <a:path w="10574868" h="872067" stroke="0" extrusionOk="0">
                <a:moveTo>
                  <a:pt x="0" y="0"/>
                </a:moveTo>
                <a:cubicBezTo>
                  <a:pt x="105281" y="-20858"/>
                  <a:pt x="232834" y="-10899"/>
                  <a:pt x="449432" y="0"/>
                </a:cubicBezTo>
                <a:cubicBezTo>
                  <a:pt x="666030" y="10899"/>
                  <a:pt x="792983" y="-14547"/>
                  <a:pt x="898864" y="0"/>
                </a:cubicBezTo>
                <a:cubicBezTo>
                  <a:pt x="1004745" y="14547"/>
                  <a:pt x="1249554" y="9036"/>
                  <a:pt x="1348296" y="0"/>
                </a:cubicBezTo>
                <a:cubicBezTo>
                  <a:pt x="1447038" y="-9036"/>
                  <a:pt x="1636322" y="-19549"/>
                  <a:pt x="1903476" y="0"/>
                </a:cubicBezTo>
                <a:cubicBezTo>
                  <a:pt x="2170630" y="19549"/>
                  <a:pt x="2437036" y="-26146"/>
                  <a:pt x="2775903" y="0"/>
                </a:cubicBezTo>
                <a:cubicBezTo>
                  <a:pt x="3114770" y="26146"/>
                  <a:pt x="3093035" y="10549"/>
                  <a:pt x="3225335" y="0"/>
                </a:cubicBezTo>
                <a:cubicBezTo>
                  <a:pt x="3357635" y="-10549"/>
                  <a:pt x="3501404" y="-12752"/>
                  <a:pt x="3674767" y="0"/>
                </a:cubicBezTo>
                <a:cubicBezTo>
                  <a:pt x="3848130" y="12752"/>
                  <a:pt x="3914985" y="10506"/>
                  <a:pt x="4018450" y="0"/>
                </a:cubicBezTo>
                <a:cubicBezTo>
                  <a:pt x="4121915" y="-10506"/>
                  <a:pt x="4457257" y="-12114"/>
                  <a:pt x="4679379" y="0"/>
                </a:cubicBezTo>
                <a:cubicBezTo>
                  <a:pt x="4901501" y="12114"/>
                  <a:pt x="4936836" y="5775"/>
                  <a:pt x="5023062" y="0"/>
                </a:cubicBezTo>
                <a:cubicBezTo>
                  <a:pt x="5109288" y="-5775"/>
                  <a:pt x="5415790" y="-22197"/>
                  <a:pt x="5578243" y="0"/>
                </a:cubicBezTo>
                <a:cubicBezTo>
                  <a:pt x="5740696" y="22197"/>
                  <a:pt x="5836734" y="-6969"/>
                  <a:pt x="5921926" y="0"/>
                </a:cubicBezTo>
                <a:cubicBezTo>
                  <a:pt x="6007118" y="6969"/>
                  <a:pt x="6172766" y="-7952"/>
                  <a:pt x="6265609" y="0"/>
                </a:cubicBezTo>
                <a:cubicBezTo>
                  <a:pt x="6358452" y="7952"/>
                  <a:pt x="6697849" y="18875"/>
                  <a:pt x="7032287" y="0"/>
                </a:cubicBezTo>
                <a:cubicBezTo>
                  <a:pt x="7366725" y="-18875"/>
                  <a:pt x="7527088" y="-4146"/>
                  <a:pt x="7693216" y="0"/>
                </a:cubicBezTo>
                <a:cubicBezTo>
                  <a:pt x="7859344" y="4146"/>
                  <a:pt x="7943607" y="21158"/>
                  <a:pt x="8142648" y="0"/>
                </a:cubicBezTo>
                <a:cubicBezTo>
                  <a:pt x="8341689" y="-21158"/>
                  <a:pt x="8425307" y="6592"/>
                  <a:pt x="8697829" y="0"/>
                </a:cubicBezTo>
                <a:cubicBezTo>
                  <a:pt x="8970351" y="-6592"/>
                  <a:pt x="8928008" y="-9272"/>
                  <a:pt x="9041512" y="0"/>
                </a:cubicBezTo>
                <a:cubicBezTo>
                  <a:pt x="9155016" y="9272"/>
                  <a:pt x="9613200" y="13108"/>
                  <a:pt x="9913939" y="0"/>
                </a:cubicBezTo>
                <a:cubicBezTo>
                  <a:pt x="10214678" y="-13108"/>
                  <a:pt x="10392153" y="5867"/>
                  <a:pt x="10574868" y="0"/>
                </a:cubicBezTo>
                <a:cubicBezTo>
                  <a:pt x="10591880" y="156071"/>
                  <a:pt x="10558510" y="208754"/>
                  <a:pt x="10574868" y="409871"/>
                </a:cubicBezTo>
                <a:cubicBezTo>
                  <a:pt x="10591226" y="610988"/>
                  <a:pt x="10552767" y="666415"/>
                  <a:pt x="10574868" y="872067"/>
                </a:cubicBezTo>
                <a:cubicBezTo>
                  <a:pt x="10391954" y="885226"/>
                  <a:pt x="10052550" y="896366"/>
                  <a:pt x="9808190" y="872067"/>
                </a:cubicBezTo>
                <a:cubicBezTo>
                  <a:pt x="9563830" y="847768"/>
                  <a:pt x="9430348" y="877662"/>
                  <a:pt x="9147261" y="872067"/>
                </a:cubicBezTo>
                <a:cubicBezTo>
                  <a:pt x="8864174" y="866472"/>
                  <a:pt x="8556715" y="836538"/>
                  <a:pt x="8380583" y="872067"/>
                </a:cubicBezTo>
                <a:cubicBezTo>
                  <a:pt x="8204451" y="907596"/>
                  <a:pt x="8149376" y="866636"/>
                  <a:pt x="7931151" y="872067"/>
                </a:cubicBezTo>
                <a:cubicBezTo>
                  <a:pt x="7712926" y="877498"/>
                  <a:pt x="7574757" y="873987"/>
                  <a:pt x="7481719" y="872067"/>
                </a:cubicBezTo>
                <a:cubicBezTo>
                  <a:pt x="7388681" y="870147"/>
                  <a:pt x="7180025" y="865460"/>
                  <a:pt x="7032287" y="872067"/>
                </a:cubicBezTo>
                <a:cubicBezTo>
                  <a:pt x="6884549" y="878674"/>
                  <a:pt x="6565803" y="880949"/>
                  <a:pt x="6371358" y="872067"/>
                </a:cubicBezTo>
                <a:cubicBezTo>
                  <a:pt x="6176913" y="863185"/>
                  <a:pt x="6163407" y="878091"/>
                  <a:pt x="6027675" y="872067"/>
                </a:cubicBezTo>
                <a:cubicBezTo>
                  <a:pt x="5891943" y="866043"/>
                  <a:pt x="5717134" y="888225"/>
                  <a:pt x="5472494" y="872067"/>
                </a:cubicBezTo>
                <a:cubicBezTo>
                  <a:pt x="5227854" y="855909"/>
                  <a:pt x="5142146" y="894574"/>
                  <a:pt x="4917314" y="872067"/>
                </a:cubicBezTo>
                <a:cubicBezTo>
                  <a:pt x="4692482" y="849560"/>
                  <a:pt x="4591290" y="882572"/>
                  <a:pt x="4467882" y="872067"/>
                </a:cubicBezTo>
                <a:cubicBezTo>
                  <a:pt x="4344474" y="861562"/>
                  <a:pt x="3943243" y="898372"/>
                  <a:pt x="3806952" y="872067"/>
                </a:cubicBezTo>
                <a:cubicBezTo>
                  <a:pt x="3670661" y="845763"/>
                  <a:pt x="3379048" y="897381"/>
                  <a:pt x="3251772" y="872067"/>
                </a:cubicBezTo>
                <a:cubicBezTo>
                  <a:pt x="3124496" y="846753"/>
                  <a:pt x="2562540" y="861731"/>
                  <a:pt x="2379345" y="872067"/>
                </a:cubicBezTo>
                <a:cubicBezTo>
                  <a:pt x="2196150" y="882403"/>
                  <a:pt x="1866332" y="881420"/>
                  <a:pt x="1718416" y="872067"/>
                </a:cubicBezTo>
                <a:cubicBezTo>
                  <a:pt x="1570500" y="862714"/>
                  <a:pt x="1319637" y="874248"/>
                  <a:pt x="1163235" y="872067"/>
                </a:cubicBezTo>
                <a:cubicBezTo>
                  <a:pt x="1006833" y="869886"/>
                  <a:pt x="343495" y="918888"/>
                  <a:pt x="0" y="872067"/>
                </a:cubicBezTo>
                <a:cubicBezTo>
                  <a:pt x="-4638" y="696764"/>
                  <a:pt x="-13265" y="567365"/>
                  <a:pt x="0" y="462196"/>
                </a:cubicBezTo>
                <a:cubicBezTo>
                  <a:pt x="13265" y="357027"/>
                  <a:pt x="3049" y="133405"/>
                  <a:pt x="0" y="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Fall detection is studied as a concrete instance of patient behavior analysis, </a:t>
            </a:r>
          </a:p>
          <a:p>
            <a:pPr algn="ctr"/>
            <a:r>
              <a:rPr lang="en-US" sz="2000" b="1" dirty="0"/>
              <a:t>with indoor localization used to determine the location of a fall event.</a:t>
            </a:r>
          </a:p>
        </p:txBody>
      </p:sp>
    </p:spTree>
    <p:extLst>
      <p:ext uri="{BB962C8B-B14F-4D97-AF65-F5344CB8AC3E}">
        <p14:creationId xmlns:p14="http://schemas.microsoft.com/office/powerpoint/2010/main" val="67727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D24C-5267-185E-DF24-859FF81B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62791-0A93-97E6-7B20-4C4A2852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noProof="0" dirty="0"/>
              <a:t>2 System-Level Design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C2C579-706E-4427-EBF3-32578EC4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6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7C68C18-125C-16D8-7393-399B40C5E13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5CBB5AD6-15B5-1186-DA69-B29BADCAAF3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9766B4BC-CE4E-05C3-D2FF-9451B706D4F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E63459EE-5394-33A2-9DFB-7C9A010F54B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F318E88-0EAC-C24A-1199-496012DF8DDA}"/>
              </a:ext>
            </a:extLst>
          </p:cNvPr>
          <p:cNvSpPr txBox="1"/>
          <p:nvPr/>
        </p:nvSpPr>
        <p:spPr>
          <a:xfrm>
            <a:off x="838199" y="3565142"/>
            <a:ext cx="70160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End-to-End Fall Management Workflow</a:t>
            </a: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BFD4CC3D-1B42-79F7-D65C-2AB81C0EFA71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5494867" cy="259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Design Principles</a:t>
            </a:r>
          </a:p>
          <a:p>
            <a:pPr lvl="1"/>
            <a:r>
              <a:rPr lang="en-US" dirty="0"/>
              <a:t>Wearable-first</a:t>
            </a:r>
          </a:p>
          <a:p>
            <a:pPr lvl="1"/>
            <a:r>
              <a:rPr lang="en-US" dirty="0"/>
              <a:t>Low-intrusive &amp; privacy-preserving</a:t>
            </a:r>
          </a:p>
          <a:p>
            <a:pPr lvl="1"/>
            <a:r>
              <a:rPr lang="en-US" dirty="0"/>
              <a:t>Zone- / Room-level localization</a:t>
            </a:r>
          </a:p>
          <a:p>
            <a:pPr lvl="1"/>
            <a:r>
              <a:rPr lang="en-US" dirty="0"/>
              <a:t>Modular and extensible system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AB1FBB12-8B8C-4C0F-AC9C-C86F669F3A7E}"/>
              </a:ext>
            </a:extLst>
          </p:cNvPr>
          <p:cNvSpPr txBox="1">
            <a:spLocks/>
          </p:cNvSpPr>
          <p:nvPr/>
        </p:nvSpPr>
        <p:spPr>
          <a:xfrm>
            <a:off x="6843381" y="1251082"/>
            <a:ext cx="4800600" cy="259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System Level</a:t>
            </a:r>
          </a:p>
          <a:p>
            <a:pPr lvl="1"/>
            <a:r>
              <a:rPr lang="en-US" dirty="0"/>
              <a:t>Wearable sensing layer</a:t>
            </a:r>
          </a:p>
          <a:p>
            <a:pPr lvl="1"/>
            <a:r>
              <a:rPr lang="en-US" dirty="0"/>
              <a:t>Indoor localization layer</a:t>
            </a:r>
          </a:p>
          <a:p>
            <a:pPr lvl="1"/>
            <a:r>
              <a:rPr lang="en-US" dirty="0"/>
              <a:t>Processing &amp; decision layer</a:t>
            </a:r>
          </a:p>
          <a:p>
            <a:pPr lvl="1"/>
            <a:r>
              <a:rPr lang="en-US" dirty="0"/>
              <a:t>Alert &amp; analysis layer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39798F0-B308-D321-2839-966F403C0CCD}"/>
              </a:ext>
            </a:extLst>
          </p:cNvPr>
          <p:cNvGrpSpPr/>
          <p:nvPr/>
        </p:nvGrpSpPr>
        <p:grpSpPr>
          <a:xfrm>
            <a:off x="1233795" y="4108136"/>
            <a:ext cx="9640645" cy="2248214"/>
            <a:chOff x="1512744" y="4181293"/>
            <a:chExt cx="9640645" cy="2248214"/>
          </a:xfrm>
        </p:grpSpPr>
        <p:pic>
          <p:nvPicPr>
            <p:cNvPr id="32" name="图片 31" descr="图形用户界面, 应用程序, 图标&#10;&#10;AI 生成的内容可能不正确。">
              <a:extLst>
                <a:ext uri="{FF2B5EF4-FFF2-40B4-BE49-F238E27FC236}">
                  <a16:creationId xmlns:a16="http://schemas.microsoft.com/office/drawing/2014/main" id="{63DD52D4-F970-B4AB-AF8E-953AD3B0E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2744" y="4181293"/>
              <a:ext cx="9640645" cy="224821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A01A208-8F8E-E98C-7B18-794978D4FBBF}"/>
                </a:ext>
              </a:extLst>
            </p:cNvPr>
            <p:cNvSpPr txBox="1"/>
            <p:nvPr/>
          </p:nvSpPr>
          <p:spPr>
            <a:xfrm>
              <a:off x="1728719" y="5783851"/>
              <a:ext cx="1529940" cy="387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Daily Activity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8966AEC-B343-CCC6-B378-83F61FC9530D}"/>
                </a:ext>
              </a:extLst>
            </p:cNvPr>
            <p:cNvSpPr txBox="1"/>
            <p:nvPr/>
          </p:nvSpPr>
          <p:spPr>
            <a:xfrm>
              <a:off x="3848664" y="5783851"/>
              <a:ext cx="1529940" cy="387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Fall Event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BFBBDEF-4FCC-AA22-CAAE-7AB77CD8042F}"/>
                </a:ext>
              </a:extLst>
            </p:cNvPr>
            <p:cNvSpPr txBox="1"/>
            <p:nvPr/>
          </p:nvSpPr>
          <p:spPr>
            <a:xfrm>
              <a:off x="5661098" y="5783851"/>
              <a:ext cx="1412254" cy="387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Assessment</a:t>
              </a:r>
              <a:endParaRPr lang="en-US" sz="1600" b="1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FA1F1BC-9C3C-A89A-7CE1-72E479568B9C}"/>
                </a:ext>
              </a:extLst>
            </p:cNvPr>
            <p:cNvSpPr txBox="1"/>
            <p:nvPr/>
          </p:nvSpPr>
          <p:spPr>
            <a:xfrm>
              <a:off x="7529285" y="5678644"/>
              <a:ext cx="141225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Decision &amp; </a:t>
              </a:r>
            </a:p>
            <a:p>
              <a:r>
                <a:rPr lang="en-US" altLang="zh-CN" sz="1600" b="1" dirty="0"/>
                <a:t>        Alerting</a:t>
              </a:r>
              <a:endParaRPr lang="en-US" sz="1600" b="1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BAFE95B-45A1-3827-20C1-915AB59021AE}"/>
                </a:ext>
              </a:extLst>
            </p:cNvPr>
            <p:cNvSpPr txBox="1"/>
            <p:nvPr/>
          </p:nvSpPr>
          <p:spPr>
            <a:xfrm>
              <a:off x="9397472" y="5699343"/>
              <a:ext cx="152930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  Post-event </a:t>
              </a:r>
            </a:p>
            <a:p>
              <a:r>
                <a:rPr lang="en-US" altLang="zh-CN" sz="1600" b="1" dirty="0"/>
                <a:t>          Analysis</a:t>
              </a:r>
              <a:endParaRPr 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72715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E16DF-BE3F-AA9F-46A4-B7E1F9E3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2D762-8764-10FC-0945-D1EE3E4B9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 Functional Design Overview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704D15-5C80-2B6C-5C8B-872E0135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7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F03DC14-00F7-3AFB-1EA6-602F915F6A9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AD79021-14DE-BD9E-CDDD-BCA44C7810C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03BD9774-B7D1-67E1-A3B4-C470FA5F7B4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44FBAC60-A125-4D82-97B0-5C5166A8116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F179AD4-4FB7-690C-2278-F7B51E9FD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457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noProof="0" dirty="0"/>
              <a:t>Functional Process </a:t>
            </a:r>
            <a:r>
              <a:rPr lang="en-US" b="1" dirty="0"/>
              <a:t>F</a:t>
            </a:r>
            <a:r>
              <a:rPr lang="en-US" b="1" noProof="0" dirty="0"/>
              <a:t>low</a:t>
            </a:r>
          </a:p>
        </p:txBody>
      </p:sp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66C77101-D8AF-EEB4-7ACA-880F87191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540699"/>
              </p:ext>
            </p:extLst>
          </p:nvPr>
        </p:nvGraphicFramePr>
        <p:xfrm>
          <a:off x="838199" y="1820335"/>
          <a:ext cx="5672300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右大括号 10">
            <a:extLst>
              <a:ext uri="{FF2B5EF4-FFF2-40B4-BE49-F238E27FC236}">
                <a16:creationId xmlns:a16="http://schemas.microsoft.com/office/drawing/2014/main" id="{811A767E-4CE8-B7CF-4805-36AFB397D05B}"/>
              </a:ext>
            </a:extLst>
          </p:cNvPr>
          <p:cNvSpPr/>
          <p:nvPr/>
        </p:nvSpPr>
        <p:spPr>
          <a:xfrm>
            <a:off x="7171267" y="1820335"/>
            <a:ext cx="347134" cy="1549398"/>
          </a:xfrm>
          <a:prstGeom prst="rightBrace">
            <a:avLst>
              <a:gd name="adj1" fmla="val 8333"/>
              <a:gd name="adj2" fmla="val 5437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右大括号 12">
            <a:extLst>
              <a:ext uri="{FF2B5EF4-FFF2-40B4-BE49-F238E27FC236}">
                <a16:creationId xmlns:a16="http://schemas.microsoft.com/office/drawing/2014/main" id="{2F33F305-C0F8-6C09-AE25-781CFC81A103}"/>
              </a:ext>
            </a:extLst>
          </p:cNvPr>
          <p:cNvSpPr/>
          <p:nvPr/>
        </p:nvSpPr>
        <p:spPr>
          <a:xfrm>
            <a:off x="7171267" y="3632200"/>
            <a:ext cx="347134" cy="6265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3ECF31D5-3180-FCF2-385E-4EC738877D5D}"/>
              </a:ext>
            </a:extLst>
          </p:cNvPr>
          <p:cNvSpPr/>
          <p:nvPr/>
        </p:nvSpPr>
        <p:spPr>
          <a:xfrm>
            <a:off x="7179734" y="5410200"/>
            <a:ext cx="347134" cy="6265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706EB2-D9CD-E65C-FD56-8358487C59E6}"/>
              </a:ext>
            </a:extLst>
          </p:cNvPr>
          <p:cNvSpPr/>
          <p:nvPr/>
        </p:nvSpPr>
        <p:spPr>
          <a:xfrm>
            <a:off x="7768712" y="2391438"/>
            <a:ext cx="3158066" cy="525196"/>
          </a:xfrm>
          <a:custGeom>
            <a:avLst/>
            <a:gdLst>
              <a:gd name="csX0" fmla="*/ 0 w 3158066"/>
              <a:gd name="csY0" fmla="*/ 0 h 525196"/>
              <a:gd name="csX1" fmla="*/ 663194 w 3158066"/>
              <a:gd name="csY1" fmla="*/ 0 h 525196"/>
              <a:gd name="csX2" fmla="*/ 1231646 w 3158066"/>
              <a:gd name="csY2" fmla="*/ 0 h 525196"/>
              <a:gd name="csX3" fmla="*/ 1894840 w 3158066"/>
              <a:gd name="csY3" fmla="*/ 0 h 525196"/>
              <a:gd name="csX4" fmla="*/ 2494872 w 3158066"/>
              <a:gd name="csY4" fmla="*/ 0 h 525196"/>
              <a:gd name="csX5" fmla="*/ 3158066 w 3158066"/>
              <a:gd name="csY5" fmla="*/ 0 h 525196"/>
              <a:gd name="csX6" fmla="*/ 3158066 w 3158066"/>
              <a:gd name="csY6" fmla="*/ 525196 h 525196"/>
              <a:gd name="csX7" fmla="*/ 2621195 w 3158066"/>
              <a:gd name="csY7" fmla="*/ 525196 h 525196"/>
              <a:gd name="csX8" fmla="*/ 2052743 w 3158066"/>
              <a:gd name="csY8" fmla="*/ 525196 h 525196"/>
              <a:gd name="csX9" fmla="*/ 1452710 w 3158066"/>
              <a:gd name="csY9" fmla="*/ 525196 h 525196"/>
              <a:gd name="csX10" fmla="*/ 789517 w 3158066"/>
              <a:gd name="csY10" fmla="*/ 525196 h 525196"/>
              <a:gd name="csX11" fmla="*/ 0 w 3158066"/>
              <a:gd name="csY11" fmla="*/ 525196 h 525196"/>
              <a:gd name="csX12" fmla="*/ 0 w 3158066"/>
              <a:gd name="csY12" fmla="*/ 0 h 525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58066" h="525196" fill="none" extrusionOk="0">
                <a:moveTo>
                  <a:pt x="0" y="0"/>
                </a:moveTo>
                <a:cubicBezTo>
                  <a:pt x="237704" y="-30809"/>
                  <a:pt x="412016" y="30991"/>
                  <a:pt x="663194" y="0"/>
                </a:cubicBezTo>
                <a:cubicBezTo>
                  <a:pt x="914372" y="-30991"/>
                  <a:pt x="1106186" y="21769"/>
                  <a:pt x="1231646" y="0"/>
                </a:cubicBezTo>
                <a:cubicBezTo>
                  <a:pt x="1357106" y="-21769"/>
                  <a:pt x="1740352" y="-24762"/>
                  <a:pt x="1894840" y="0"/>
                </a:cubicBezTo>
                <a:cubicBezTo>
                  <a:pt x="2049328" y="24762"/>
                  <a:pt x="2289542" y="-20075"/>
                  <a:pt x="2494872" y="0"/>
                </a:cubicBezTo>
                <a:cubicBezTo>
                  <a:pt x="2700202" y="20075"/>
                  <a:pt x="2945566" y="20333"/>
                  <a:pt x="3158066" y="0"/>
                </a:cubicBezTo>
                <a:cubicBezTo>
                  <a:pt x="3133960" y="155522"/>
                  <a:pt x="3159988" y="280224"/>
                  <a:pt x="3158066" y="525196"/>
                </a:cubicBezTo>
                <a:cubicBezTo>
                  <a:pt x="2982223" y="530533"/>
                  <a:pt x="2881624" y="508471"/>
                  <a:pt x="2621195" y="525196"/>
                </a:cubicBezTo>
                <a:cubicBezTo>
                  <a:pt x="2360766" y="541921"/>
                  <a:pt x="2270792" y="512451"/>
                  <a:pt x="2052743" y="525196"/>
                </a:cubicBezTo>
                <a:cubicBezTo>
                  <a:pt x="1834694" y="537941"/>
                  <a:pt x="1651549" y="529792"/>
                  <a:pt x="1452710" y="525196"/>
                </a:cubicBezTo>
                <a:cubicBezTo>
                  <a:pt x="1253871" y="520600"/>
                  <a:pt x="1029775" y="552738"/>
                  <a:pt x="789517" y="525196"/>
                </a:cubicBezTo>
                <a:cubicBezTo>
                  <a:pt x="549259" y="497654"/>
                  <a:pt x="211640" y="531851"/>
                  <a:pt x="0" y="525196"/>
                </a:cubicBezTo>
                <a:cubicBezTo>
                  <a:pt x="-11184" y="300597"/>
                  <a:pt x="17794" y="145146"/>
                  <a:pt x="0" y="0"/>
                </a:cubicBezTo>
                <a:close/>
              </a:path>
              <a:path w="3158066" h="525196" stroke="0" extrusionOk="0">
                <a:moveTo>
                  <a:pt x="0" y="0"/>
                </a:moveTo>
                <a:cubicBezTo>
                  <a:pt x="180453" y="-25830"/>
                  <a:pt x="310534" y="-26820"/>
                  <a:pt x="568452" y="0"/>
                </a:cubicBezTo>
                <a:cubicBezTo>
                  <a:pt x="826370" y="26820"/>
                  <a:pt x="938933" y="-3971"/>
                  <a:pt x="1136904" y="0"/>
                </a:cubicBezTo>
                <a:cubicBezTo>
                  <a:pt x="1334875" y="3971"/>
                  <a:pt x="1492465" y="-8679"/>
                  <a:pt x="1705356" y="0"/>
                </a:cubicBezTo>
                <a:cubicBezTo>
                  <a:pt x="1918247" y="8679"/>
                  <a:pt x="2014146" y="-9413"/>
                  <a:pt x="2305388" y="0"/>
                </a:cubicBezTo>
                <a:cubicBezTo>
                  <a:pt x="2596630" y="9413"/>
                  <a:pt x="2969676" y="-7251"/>
                  <a:pt x="3158066" y="0"/>
                </a:cubicBezTo>
                <a:cubicBezTo>
                  <a:pt x="3138363" y="195524"/>
                  <a:pt x="3134951" y="299634"/>
                  <a:pt x="3158066" y="525196"/>
                </a:cubicBezTo>
                <a:cubicBezTo>
                  <a:pt x="2837832" y="551751"/>
                  <a:pt x="2677224" y="544102"/>
                  <a:pt x="2494872" y="525196"/>
                </a:cubicBezTo>
                <a:cubicBezTo>
                  <a:pt x="2312520" y="506290"/>
                  <a:pt x="2119807" y="501646"/>
                  <a:pt x="1800098" y="525196"/>
                </a:cubicBezTo>
                <a:cubicBezTo>
                  <a:pt x="1480389" y="548746"/>
                  <a:pt x="1320720" y="545136"/>
                  <a:pt x="1136904" y="525196"/>
                </a:cubicBezTo>
                <a:cubicBezTo>
                  <a:pt x="953088" y="505256"/>
                  <a:pt x="548796" y="527840"/>
                  <a:pt x="0" y="525196"/>
                </a:cubicBezTo>
                <a:cubicBezTo>
                  <a:pt x="-7558" y="352688"/>
                  <a:pt x="18868" y="232479"/>
                  <a:pt x="0" y="0"/>
                </a:cubicBezTo>
                <a:close/>
              </a:path>
            </a:pathLst>
          </a:custGeom>
          <a:solidFill>
            <a:srgbClr val="23607E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Event Understanding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0CB48C-F94A-9891-48D9-1B785FFEF0C6}"/>
              </a:ext>
            </a:extLst>
          </p:cNvPr>
          <p:cNvSpPr/>
          <p:nvPr/>
        </p:nvSpPr>
        <p:spPr>
          <a:xfrm>
            <a:off x="7768712" y="3682868"/>
            <a:ext cx="3158066" cy="525196"/>
          </a:xfrm>
          <a:custGeom>
            <a:avLst/>
            <a:gdLst>
              <a:gd name="csX0" fmla="*/ 0 w 3158066"/>
              <a:gd name="csY0" fmla="*/ 0 h 525196"/>
              <a:gd name="csX1" fmla="*/ 663194 w 3158066"/>
              <a:gd name="csY1" fmla="*/ 0 h 525196"/>
              <a:gd name="csX2" fmla="*/ 1231646 w 3158066"/>
              <a:gd name="csY2" fmla="*/ 0 h 525196"/>
              <a:gd name="csX3" fmla="*/ 1894840 w 3158066"/>
              <a:gd name="csY3" fmla="*/ 0 h 525196"/>
              <a:gd name="csX4" fmla="*/ 2494872 w 3158066"/>
              <a:gd name="csY4" fmla="*/ 0 h 525196"/>
              <a:gd name="csX5" fmla="*/ 3158066 w 3158066"/>
              <a:gd name="csY5" fmla="*/ 0 h 525196"/>
              <a:gd name="csX6" fmla="*/ 3158066 w 3158066"/>
              <a:gd name="csY6" fmla="*/ 525196 h 525196"/>
              <a:gd name="csX7" fmla="*/ 2621195 w 3158066"/>
              <a:gd name="csY7" fmla="*/ 525196 h 525196"/>
              <a:gd name="csX8" fmla="*/ 2052743 w 3158066"/>
              <a:gd name="csY8" fmla="*/ 525196 h 525196"/>
              <a:gd name="csX9" fmla="*/ 1452710 w 3158066"/>
              <a:gd name="csY9" fmla="*/ 525196 h 525196"/>
              <a:gd name="csX10" fmla="*/ 789517 w 3158066"/>
              <a:gd name="csY10" fmla="*/ 525196 h 525196"/>
              <a:gd name="csX11" fmla="*/ 0 w 3158066"/>
              <a:gd name="csY11" fmla="*/ 525196 h 525196"/>
              <a:gd name="csX12" fmla="*/ 0 w 3158066"/>
              <a:gd name="csY12" fmla="*/ 0 h 525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58066" h="525196" fill="none" extrusionOk="0">
                <a:moveTo>
                  <a:pt x="0" y="0"/>
                </a:moveTo>
                <a:cubicBezTo>
                  <a:pt x="237704" y="-30809"/>
                  <a:pt x="412016" y="30991"/>
                  <a:pt x="663194" y="0"/>
                </a:cubicBezTo>
                <a:cubicBezTo>
                  <a:pt x="914372" y="-30991"/>
                  <a:pt x="1106186" y="21769"/>
                  <a:pt x="1231646" y="0"/>
                </a:cubicBezTo>
                <a:cubicBezTo>
                  <a:pt x="1357106" y="-21769"/>
                  <a:pt x="1740352" y="-24762"/>
                  <a:pt x="1894840" y="0"/>
                </a:cubicBezTo>
                <a:cubicBezTo>
                  <a:pt x="2049328" y="24762"/>
                  <a:pt x="2289542" y="-20075"/>
                  <a:pt x="2494872" y="0"/>
                </a:cubicBezTo>
                <a:cubicBezTo>
                  <a:pt x="2700202" y="20075"/>
                  <a:pt x="2945566" y="20333"/>
                  <a:pt x="3158066" y="0"/>
                </a:cubicBezTo>
                <a:cubicBezTo>
                  <a:pt x="3133960" y="155522"/>
                  <a:pt x="3159988" y="280224"/>
                  <a:pt x="3158066" y="525196"/>
                </a:cubicBezTo>
                <a:cubicBezTo>
                  <a:pt x="2982223" y="530533"/>
                  <a:pt x="2881624" y="508471"/>
                  <a:pt x="2621195" y="525196"/>
                </a:cubicBezTo>
                <a:cubicBezTo>
                  <a:pt x="2360766" y="541921"/>
                  <a:pt x="2270792" y="512451"/>
                  <a:pt x="2052743" y="525196"/>
                </a:cubicBezTo>
                <a:cubicBezTo>
                  <a:pt x="1834694" y="537941"/>
                  <a:pt x="1651549" y="529792"/>
                  <a:pt x="1452710" y="525196"/>
                </a:cubicBezTo>
                <a:cubicBezTo>
                  <a:pt x="1253871" y="520600"/>
                  <a:pt x="1029775" y="552738"/>
                  <a:pt x="789517" y="525196"/>
                </a:cubicBezTo>
                <a:cubicBezTo>
                  <a:pt x="549259" y="497654"/>
                  <a:pt x="211640" y="531851"/>
                  <a:pt x="0" y="525196"/>
                </a:cubicBezTo>
                <a:cubicBezTo>
                  <a:pt x="-11184" y="300597"/>
                  <a:pt x="17794" y="145146"/>
                  <a:pt x="0" y="0"/>
                </a:cubicBezTo>
                <a:close/>
              </a:path>
              <a:path w="3158066" h="525196" stroke="0" extrusionOk="0">
                <a:moveTo>
                  <a:pt x="0" y="0"/>
                </a:moveTo>
                <a:cubicBezTo>
                  <a:pt x="180453" y="-25830"/>
                  <a:pt x="310534" y="-26820"/>
                  <a:pt x="568452" y="0"/>
                </a:cubicBezTo>
                <a:cubicBezTo>
                  <a:pt x="826370" y="26820"/>
                  <a:pt x="938933" y="-3971"/>
                  <a:pt x="1136904" y="0"/>
                </a:cubicBezTo>
                <a:cubicBezTo>
                  <a:pt x="1334875" y="3971"/>
                  <a:pt x="1492465" y="-8679"/>
                  <a:pt x="1705356" y="0"/>
                </a:cubicBezTo>
                <a:cubicBezTo>
                  <a:pt x="1918247" y="8679"/>
                  <a:pt x="2014146" y="-9413"/>
                  <a:pt x="2305388" y="0"/>
                </a:cubicBezTo>
                <a:cubicBezTo>
                  <a:pt x="2596630" y="9413"/>
                  <a:pt x="2969676" y="-7251"/>
                  <a:pt x="3158066" y="0"/>
                </a:cubicBezTo>
                <a:cubicBezTo>
                  <a:pt x="3138363" y="195524"/>
                  <a:pt x="3134951" y="299634"/>
                  <a:pt x="3158066" y="525196"/>
                </a:cubicBezTo>
                <a:cubicBezTo>
                  <a:pt x="2837832" y="551751"/>
                  <a:pt x="2677224" y="544102"/>
                  <a:pt x="2494872" y="525196"/>
                </a:cubicBezTo>
                <a:cubicBezTo>
                  <a:pt x="2312520" y="506290"/>
                  <a:pt x="2119807" y="501646"/>
                  <a:pt x="1800098" y="525196"/>
                </a:cubicBezTo>
                <a:cubicBezTo>
                  <a:pt x="1480389" y="548746"/>
                  <a:pt x="1320720" y="545136"/>
                  <a:pt x="1136904" y="525196"/>
                </a:cubicBezTo>
                <a:cubicBezTo>
                  <a:pt x="953088" y="505256"/>
                  <a:pt x="548796" y="527840"/>
                  <a:pt x="0" y="525196"/>
                </a:cubicBezTo>
                <a:cubicBezTo>
                  <a:pt x="-7558" y="352688"/>
                  <a:pt x="18868" y="232479"/>
                  <a:pt x="0" y="0"/>
                </a:cubicBezTo>
                <a:close/>
              </a:path>
            </a:pathLst>
          </a:custGeom>
          <a:solidFill>
            <a:srgbClr val="3C82AE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Spatial Context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A86272-BA1E-53EA-A755-783688E49435}"/>
              </a:ext>
            </a:extLst>
          </p:cNvPr>
          <p:cNvSpPr/>
          <p:nvPr/>
        </p:nvSpPr>
        <p:spPr>
          <a:xfrm>
            <a:off x="7768712" y="5454908"/>
            <a:ext cx="3158066" cy="525196"/>
          </a:xfrm>
          <a:custGeom>
            <a:avLst/>
            <a:gdLst>
              <a:gd name="csX0" fmla="*/ 0 w 3158066"/>
              <a:gd name="csY0" fmla="*/ 0 h 525196"/>
              <a:gd name="csX1" fmla="*/ 663194 w 3158066"/>
              <a:gd name="csY1" fmla="*/ 0 h 525196"/>
              <a:gd name="csX2" fmla="*/ 1231646 w 3158066"/>
              <a:gd name="csY2" fmla="*/ 0 h 525196"/>
              <a:gd name="csX3" fmla="*/ 1894840 w 3158066"/>
              <a:gd name="csY3" fmla="*/ 0 h 525196"/>
              <a:gd name="csX4" fmla="*/ 2494872 w 3158066"/>
              <a:gd name="csY4" fmla="*/ 0 h 525196"/>
              <a:gd name="csX5" fmla="*/ 3158066 w 3158066"/>
              <a:gd name="csY5" fmla="*/ 0 h 525196"/>
              <a:gd name="csX6" fmla="*/ 3158066 w 3158066"/>
              <a:gd name="csY6" fmla="*/ 525196 h 525196"/>
              <a:gd name="csX7" fmla="*/ 2621195 w 3158066"/>
              <a:gd name="csY7" fmla="*/ 525196 h 525196"/>
              <a:gd name="csX8" fmla="*/ 2052743 w 3158066"/>
              <a:gd name="csY8" fmla="*/ 525196 h 525196"/>
              <a:gd name="csX9" fmla="*/ 1452710 w 3158066"/>
              <a:gd name="csY9" fmla="*/ 525196 h 525196"/>
              <a:gd name="csX10" fmla="*/ 789517 w 3158066"/>
              <a:gd name="csY10" fmla="*/ 525196 h 525196"/>
              <a:gd name="csX11" fmla="*/ 0 w 3158066"/>
              <a:gd name="csY11" fmla="*/ 525196 h 525196"/>
              <a:gd name="csX12" fmla="*/ 0 w 3158066"/>
              <a:gd name="csY12" fmla="*/ 0 h 525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58066" h="525196" fill="none" extrusionOk="0">
                <a:moveTo>
                  <a:pt x="0" y="0"/>
                </a:moveTo>
                <a:cubicBezTo>
                  <a:pt x="237704" y="-30809"/>
                  <a:pt x="412016" y="30991"/>
                  <a:pt x="663194" y="0"/>
                </a:cubicBezTo>
                <a:cubicBezTo>
                  <a:pt x="914372" y="-30991"/>
                  <a:pt x="1106186" y="21769"/>
                  <a:pt x="1231646" y="0"/>
                </a:cubicBezTo>
                <a:cubicBezTo>
                  <a:pt x="1357106" y="-21769"/>
                  <a:pt x="1740352" y="-24762"/>
                  <a:pt x="1894840" y="0"/>
                </a:cubicBezTo>
                <a:cubicBezTo>
                  <a:pt x="2049328" y="24762"/>
                  <a:pt x="2289542" y="-20075"/>
                  <a:pt x="2494872" y="0"/>
                </a:cubicBezTo>
                <a:cubicBezTo>
                  <a:pt x="2700202" y="20075"/>
                  <a:pt x="2945566" y="20333"/>
                  <a:pt x="3158066" y="0"/>
                </a:cubicBezTo>
                <a:cubicBezTo>
                  <a:pt x="3133960" y="155522"/>
                  <a:pt x="3159988" y="280224"/>
                  <a:pt x="3158066" y="525196"/>
                </a:cubicBezTo>
                <a:cubicBezTo>
                  <a:pt x="2982223" y="530533"/>
                  <a:pt x="2881624" y="508471"/>
                  <a:pt x="2621195" y="525196"/>
                </a:cubicBezTo>
                <a:cubicBezTo>
                  <a:pt x="2360766" y="541921"/>
                  <a:pt x="2270792" y="512451"/>
                  <a:pt x="2052743" y="525196"/>
                </a:cubicBezTo>
                <a:cubicBezTo>
                  <a:pt x="1834694" y="537941"/>
                  <a:pt x="1651549" y="529792"/>
                  <a:pt x="1452710" y="525196"/>
                </a:cubicBezTo>
                <a:cubicBezTo>
                  <a:pt x="1253871" y="520600"/>
                  <a:pt x="1029775" y="552738"/>
                  <a:pt x="789517" y="525196"/>
                </a:cubicBezTo>
                <a:cubicBezTo>
                  <a:pt x="549259" y="497654"/>
                  <a:pt x="211640" y="531851"/>
                  <a:pt x="0" y="525196"/>
                </a:cubicBezTo>
                <a:cubicBezTo>
                  <a:pt x="-11184" y="300597"/>
                  <a:pt x="17794" y="145146"/>
                  <a:pt x="0" y="0"/>
                </a:cubicBezTo>
                <a:close/>
              </a:path>
              <a:path w="3158066" h="525196" stroke="0" extrusionOk="0">
                <a:moveTo>
                  <a:pt x="0" y="0"/>
                </a:moveTo>
                <a:cubicBezTo>
                  <a:pt x="180453" y="-25830"/>
                  <a:pt x="310534" y="-26820"/>
                  <a:pt x="568452" y="0"/>
                </a:cubicBezTo>
                <a:cubicBezTo>
                  <a:pt x="826370" y="26820"/>
                  <a:pt x="938933" y="-3971"/>
                  <a:pt x="1136904" y="0"/>
                </a:cubicBezTo>
                <a:cubicBezTo>
                  <a:pt x="1334875" y="3971"/>
                  <a:pt x="1492465" y="-8679"/>
                  <a:pt x="1705356" y="0"/>
                </a:cubicBezTo>
                <a:cubicBezTo>
                  <a:pt x="1918247" y="8679"/>
                  <a:pt x="2014146" y="-9413"/>
                  <a:pt x="2305388" y="0"/>
                </a:cubicBezTo>
                <a:cubicBezTo>
                  <a:pt x="2596630" y="9413"/>
                  <a:pt x="2969676" y="-7251"/>
                  <a:pt x="3158066" y="0"/>
                </a:cubicBezTo>
                <a:cubicBezTo>
                  <a:pt x="3138363" y="195524"/>
                  <a:pt x="3134951" y="299634"/>
                  <a:pt x="3158066" y="525196"/>
                </a:cubicBezTo>
                <a:cubicBezTo>
                  <a:pt x="2837832" y="551751"/>
                  <a:pt x="2677224" y="544102"/>
                  <a:pt x="2494872" y="525196"/>
                </a:cubicBezTo>
                <a:cubicBezTo>
                  <a:pt x="2312520" y="506290"/>
                  <a:pt x="2119807" y="501646"/>
                  <a:pt x="1800098" y="525196"/>
                </a:cubicBezTo>
                <a:cubicBezTo>
                  <a:pt x="1480389" y="548746"/>
                  <a:pt x="1320720" y="545136"/>
                  <a:pt x="1136904" y="525196"/>
                </a:cubicBezTo>
                <a:cubicBezTo>
                  <a:pt x="953088" y="505256"/>
                  <a:pt x="548796" y="527840"/>
                  <a:pt x="0" y="525196"/>
                </a:cubicBezTo>
                <a:cubicBezTo>
                  <a:pt x="-7558" y="352688"/>
                  <a:pt x="18868" y="232479"/>
                  <a:pt x="0" y="0"/>
                </a:cubicBezTo>
                <a:close/>
              </a:path>
            </a:pathLst>
          </a:custGeom>
          <a:solidFill>
            <a:srgbClr val="8899A8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Long-term System Value</a:t>
            </a:r>
          </a:p>
        </p:txBody>
      </p:sp>
      <p:sp>
        <p:nvSpPr>
          <p:cNvPr id="29" name="右大括号 28">
            <a:extLst>
              <a:ext uri="{FF2B5EF4-FFF2-40B4-BE49-F238E27FC236}">
                <a16:creationId xmlns:a16="http://schemas.microsoft.com/office/drawing/2014/main" id="{8841E77E-95B5-438C-7F37-8056D24BD780}"/>
              </a:ext>
            </a:extLst>
          </p:cNvPr>
          <p:cNvSpPr/>
          <p:nvPr/>
        </p:nvSpPr>
        <p:spPr>
          <a:xfrm>
            <a:off x="7179734" y="4524109"/>
            <a:ext cx="347134" cy="62653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31A976-F7CE-59B7-3DD9-F3E7FEBC470B}"/>
              </a:ext>
            </a:extLst>
          </p:cNvPr>
          <p:cNvSpPr/>
          <p:nvPr/>
        </p:nvSpPr>
        <p:spPr>
          <a:xfrm>
            <a:off x="7768712" y="4579547"/>
            <a:ext cx="3158066" cy="525196"/>
          </a:xfrm>
          <a:custGeom>
            <a:avLst/>
            <a:gdLst>
              <a:gd name="csX0" fmla="*/ 0 w 3158066"/>
              <a:gd name="csY0" fmla="*/ 0 h 525196"/>
              <a:gd name="csX1" fmla="*/ 663194 w 3158066"/>
              <a:gd name="csY1" fmla="*/ 0 h 525196"/>
              <a:gd name="csX2" fmla="*/ 1231646 w 3158066"/>
              <a:gd name="csY2" fmla="*/ 0 h 525196"/>
              <a:gd name="csX3" fmla="*/ 1894840 w 3158066"/>
              <a:gd name="csY3" fmla="*/ 0 h 525196"/>
              <a:gd name="csX4" fmla="*/ 2494872 w 3158066"/>
              <a:gd name="csY4" fmla="*/ 0 h 525196"/>
              <a:gd name="csX5" fmla="*/ 3158066 w 3158066"/>
              <a:gd name="csY5" fmla="*/ 0 h 525196"/>
              <a:gd name="csX6" fmla="*/ 3158066 w 3158066"/>
              <a:gd name="csY6" fmla="*/ 525196 h 525196"/>
              <a:gd name="csX7" fmla="*/ 2621195 w 3158066"/>
              <a:gd name="csY7" fmla="*/ 525196 h 525196"/>
              <a:gd name="csX8" fmla="*/ 2052743 w 3158066"/>
              <a:gd name="csY8" fmla="*/ 525196 h 525196"/>
              <a:gd name="csX9" fmla="*/ 1452710 w 3158066"/>
              <a:gd name="csY9" fmla="*/ 525196 h 525196"/>
              <a:gd name="csX10" fmla="*/ 789517 w 3158066"/>
              <a:gd name="csY10" fmla="*/ 525196 h 525196"/>
              <a:gd name="csX11" fmla="*/ 0 w 3158066"/>
              <a:gd name="csY11" fmla="*/ 525196 h 525196"/>
              <a:gd name="csX12" fmla="*/ 0 w 3158066"/>
              <a:gd name="csY12" fmla="*/ 0 h 5251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58066" h="525196" fill="none" extrusionOk="0">
                <a:moveTo>
                  <a:pt x="0" y="0"/>
                </a:moveTo>
                <a:cubicBezTo>
                  <a:pt x="237704" y="-30809"/>
                  <a:pt x="412016" y="30991"/>
                  <a:pt x="663194" y="0"/>
                </a:cubicBezTo>
                <a:cubicBezTo>
                  <a:pt x="914372" y="-30991"/>
                  <a:pt x="1106186" y="21769"/>
                  <a:pt x="1231646" y="0"/>
                </a:cubicBezTo>
                <a:cubicBezTo>
                  <a:pt x="1357106" y="-21769"/>
                  <a:pt x="1740352" y="-24762"/>
                  <a:pt x="1894840" y="0"/>
                </a:cubicBezTo>
                <a:cubicBezTo>
                  <a:pt x="2049328" y="24762"/>
                  <a:pt x="2289542" y="-20075"/>
                  <a:pt x="2494872" y="0"/>
                </a:cubicBezTo>
                <a:cubicBezTo>
                  <a:pt x="2700202" y="20075"/>
                  <a:pt x="2945566" y="20333"/>
                  <a:pt x="3158066" y="0"/>
                </a:cubicBezTo>
                <a:cubicBezTo>
                  <a:pt x="3133960" y="155522"/>
                  <a:pt x="3159988" y="280224"/>
                  <a:pt x="3158066" y="525196"/>
                </a:cubicBezTo>
                <a:cubicBezTo>
                  <a:pt x="2982223" y="530533"/>
                  <a:pt x="2881624" y="508471"/>
                  <a:pt x="2621195" y="525196"/>
                </a:cubicBezTo>
                <a:cubicBezTo>
                  <a:pt x="2360766" y="541921"/>
                  <a:pt x="2270792" y="512451"/>
                  <a:pt x="2052743" y="525196"/>
                </a:cubicBezTo>
                <a:cubicBezTo>
                  <a:pt x="1834694" y="537941"/>
                  <a:pt x="1651549" y="529792"/>
                  <a:pt x="1452710" y="525196"/>
                </a:cubicBezTo>
                <a:cubicBezTo>
                  <a:pt x="1253871" y="520600"/>
                  <a:pt x="1029775" y="552738"/>
                  <a:pt x="789517" y="525196"/>
                </a:cubicBezTo>
                <a:cubicBezTo>
                  <a:pt x="549259" y="497654"/>
                  <a:pt x="211640" y="531851"/>
                  <a:pt x="0" y="525196"/>
                </a:cubicBezTo>
                <a:cubicBezTo>
                  <a:pt x="-11184" y="300597"/>
                  <a:pt x="17794" y="145146"/>
                  <a:pt x="0" y="0"/>
                </a:cubicBezTo>
                <a:close/>
              </a:path>
              <a:path w="3158066" h="525196" stroke="0" extrusionOk="0">
                <a:moveTo>
                  <a:pt x="0" y="0"/>
                </a:moveTo>
                <a:cubicBezTo>
                  <a:pt x="180453" y="-25830"/>
                  <a:pt x="310534" y="-26820"/>
                  <a:pt x="568452" y="0"/>
                </a:cubicBezTo>
                <a:cubicBezTo>
                  <a:pt x="826370" y="26820"/>
                  <a:pt x="938933" y="-3971"/>
                  <a:pt x="1136904" y="0"/>
                </a:cubicBezTo>
                <a:cubicBezTo>
                  <a:pt x="1334875" y="3971"/>
                  <a:pt x="1492465" y="-8679"/>
                  <a:pt x="1705356" y="0"/>
                </a:cubicBezTo>
                <a:cubicBezTo>
                  <a:pt x="1918247" y="8679"/>
                  <a:pt x="2014146" y="-9413"/>
                  <a:pt x="2305388" y="0"/>
                </a:cubicBezTo>
                <a:cubicBezTo>
                  <a:pt x="2596630" y="9413"/>
                  <a:pt x="2969676" y="-7251"/>
                  <a:pt x="3158066" y="0"/>
                </a:cubicBezTo>
                <a:cubicBezTo>
                  <a:pt x="3138363" y="195524"/>
                  <a:pt x="3134951" y="299634"/>
                  <a:pt x="3158066" y="525196"/>
                </a:cubicBezTo>
                <a:cubicBezTo>
                  <a:pt x="2837832" y="551751"/>
                  <a:pt x="2677224" y="544102"/>
                  <a:pt x="2494872" y="525196"/>
                </a:cubicBezTo>
                <a:cubicBezTo>
                  <a:pt x="2312520" y="506290"/>
                  <a:pt x="2119807" y="501646"/>
                  <a:pt x="1800098" y="525196"/>
                </a:cubicBezTo>
                <a:cubicBezTo>
                  <a:pt x="1480389" y="548746"/>
                  <a:pt x="1320720" y="545136"/>
                  <a:pt x="1136904" y="525196"/>
                </a:cubicBezTo>
                <a:cubicBezTo>
                  <a:pt x="953088" y="505256"/>
                  <a:pt x="548796" y="527840"/>
                  <a:pt x="0" y="525196"/>
                </a:cubicBezTo>
                <a:cubicBezTo>
                  <a:pt x="-7558" y="352688"/>
                  <a:pt x="18868" y="232479"/>
                  <a:pt x="0" y="0"/>
                </a:cubicBezTo>
                <a:close/>
              </a:path>
            </a:pathLst>
          </a:custGeom>
          <a:solidFill>
            <a:srgbClr val="6692B3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Operational Functionality</a:t>
            </a:r>
          </a:p>
        </p:txBody>
      </p:sp>
    </p:spTree>
    <p:extLst>
      <p:ext uri="{BB962C8B-B14F-4D97-AF65-F5344CB8AC3E}">
        <p14:creationId xmlns:p14="http://schemas.microsoft.com/office/powerpoint/2010/main" val="285924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C014-2F4E-483C-B9B5-9F2DCFCE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Automatic Fall Detection: A Step in the Right Direction">
            <a:extLst>
              <a:ext uri="{FF2B5EF4-FFF2-40B4-BE49-F238E27FC236}">
                <a16:creationId xmlns:a16="http://schemas.microsoft.com/office/drawing/2014/main" id="{9D0030F5-DA91-A5BF-F0E8-4DD64FD2E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24"/>
          <a:stretch>
            <a:fillRect/>
          </a:stretch>
        </p:blipFill>
        <p:spPr bwMode="auto">
          <a:xfrm>
            <a:off x="8552329" y="3392175"/>
            <a:ext cx="3327187" cy="29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5FAB88A-9EA0-F481-C80F-774C7DC1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3.1 F1-Fall Event Detection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F44D3-9588-7504-6D24-D6F06035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8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335C614-8461-02FC-ADC6-16790312121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A78CC80-F9CD-516C-DB0E-4C5B70A2061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CC05014C-99E4-C30D-22B7-124605AA393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674F863F-7E95-627E-25F8-92E7DEE8F93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19EC56D-1A6F-AE72-D5EB-91F7FC5A9AB8}"/>
              </a:ext>
            </a:extLst>
          </p:cNvPr>
          <p:cNvGrpSpPr/>
          <p:nvPr/>
        </p:nvGrpSpPr>
        <p:grpSpPr>
          <a:xfrm>
            <a:off x="838200" y="1343818"/>
            <a:ext cx="10447084" cy="929768"/>
            <a:chOff x="906716" y="1452282"/>
            <a:chExt cx="10447084" cy="929768"/>
          </a:xfrm>
        </p:grpSpPr>
        <p:sp>
          <p:nvSpPr>
            <p:cNvPr id="22" name="矩形: 剪去对角 21">
              <a:extLst>
                <a:ext uri="{FF2B5EF4-FFF2-40B4-BE49-F238E27FC236}">
                  <a16:creationId xmlns:a16="http://schemas.microsoft.com/office/drawing/2014/main" id="{6715A517-DBA2-F334-4650-E0879C8EE8C7}"/>
                </a:ext>
              </a:extLst>
            </p:cNvPr>
            <p:cNvSpPr/>
            <p:nvPr/>
          </p:nvSpPr>
          <p:spPr>
            <a:xfrm>
              <a:off x="906716" y="1452282"/>
              <a:ext cx="1536807" cy="929768"/>
            </a:xfrm>
            <a:prstGeom prst="snip2Diag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Purpose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53F5BC2-8503-F4A8-2FC7-D1AAF1CF8804}"/>
                </a:ext>
              </a:extLst>
            </p:cNvPr>
            <p:cNvSpPr/>
            <p:nvPr/>
          </p:nvSpPr>
          <p:spPr>
            <a:xfrm>
              <a:off x="2504995" y="1452282"/>
              <a:ext cx="8848805" cy="92976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</a:rPr>
                <a:t>Distinguish daily activities vs. fall-related motion.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chemeClr val="tx1"/>
                  </a:solidFill>
                </a:rPr>
                <a:t>Identify whether a fall event occurs </a:t>
              </a:r>
              <a:r>
                <a:rPr lang="en-US" altLang="zh-CN" sz="2000" dirty="0">
                  <a:solidFill>
                    <a:schemeClr val="tx1"/>
                  </a:solidFill>
                </a:rPr>
                <a:t>and g</a:t>
              </a:r>
              <a:r>
                <a:rPr lang="en-US" sz="2000" dirty="0">
                  <a:solidFill>
                    <a:schemeClr val="tx1"/>
                  </a:solidFill>
                </a:rPr>
                <a:t>enerate fall event candidates.</a:t>
              </a:r>
            </a:p>
          </p:txBody>
        </p:sp>
      </p:grpSp>
      <p:sp>
        <p:nvSpPr>
          <p:cNvPr id="24" name="矩形: 剪去对角 23">
            <a:extLst>
              <a:ext uri="{FF2B5EF4-FFF2-40B4-BE49-F238E27FC236}">
                <a16:creationId xmlns:a16="http://schemas.microsoft.com/office/drawing/2014/main" id="{A663FFBB-BC32-2DF3-2A43-A81C4F0BE7C5}"/>
              </a:ext>
            </a:extLst>
          </p:cNvPr>
          <p:cNvSpPr/>
          <p:nvPr/>
        </p:nvSpPr>
        <p:spPr>
          <a:xfrm>
            <a:off x="838200" y="2495142"/>
            <a:ext cx="1536807" cy="92976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Role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3B4A013-054F-3D61-8DF4-4BAF99792B52}"/>
              </a:ext>
            </a:extLst>
          </p:cNvPr>
          <p:cNvSpPr/>
          <p:nvPr/>
        </p:nvSpPr>
        <p:spPr>
          <a:xfrm>
            <a:off x="2436479" y="2495142"/>
            <a:ext cx="7978594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Operates at the individual / event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Provides the foundational event signal for subsequent functions.</a:t>
            </a:r>
          </a:p>
        </p:txBody>
      </p:sp>
      <p:sp>
        <p:nvSpPr>
          <p:cNvPr id="28" name="矩形: 剪去对角 27">
            <a:extLst>
              <a:ext uri="{FF2B5EF4-FFF2-40B4-BE49-F238E27FC236}">
                <a16:creationId xmlns:a16="http://schemas.microsoft.com/office/drawing/2014/main" id="{EDE20478-9D86-5796-A40C-022FAC592232}"/>
              </a:ext>
            </a:extLst>
          </p:cNvPr>
          <p:cNvSpPr/>
          <p:nvPr/>
        </p:nvSpPr>
        <p:spPr>
          <a:xfrm>
            <a:off x="838200" y="3700698"/>
            <a:ext cx="1536807" cy="92976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Devices &amp; Data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B97BF5E-2E3D-6F50-4CD3-E9C2BE8355AB}"/>
              </a:ext>
            </a:extLst>
          </p:cNvPr>
          <p:cNvSpPr/>
          <p:nvPr/>
        </p:nvSpPr>
        <p:spPr>
          <a:xfrm>
            <a:off x="2436480" y="3700698"/>
            <a:ext cx="7206982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Device: wrist-worn wearable (IMU)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Data: 3-axis acceleration, 3-axis angular velocity, timestamps</a:t>
            </a:r>
          </a:p>
        </p:txBody>
      </p:sp>
      <p:sp>
        <p:nvSpPr>
          <p:cNvPr id="32" name="矩形: 剪去对角 31">
            <a:extLst>
              <a:ext uri="{FF2B5EF4-FFF2-40B4-BE49-F238E27FC236}">
                <a16:creationId xmlns:a16="http://schemas.microsoft.com/office/drawing/2014/main" id="{CCEE9466-7719-2EDA-2DFD-2CB965B8C128}"/>
              </a:ext>
            </a:extLst>
          </p:cNvPr>
          <p:cNvSpPr/>
          <p:nvPr/>
        </p:nvSpPr>
        <p:spPr>
          <a:xfrm>
            <a:off x="838200" y="4906254"/>
            <a:ext cx="1536807" cy="92976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7CDE6F4-B218-67F9-70EF-723CC77BC871}"/>
              </a:ext>
            </a:extLst>
          </p:cNvPr>
          <p:cNvSpPr/>
          <p:nvPr/>
        </p:nvSpPr>
        <p:spPr>
          <a:xfrm>
            <a:off x="2436480" y="4906254"/>
            <a:ext cx="6174120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Fall detection result (yes / no)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Confidence / reliability indication (event-level)</a:t>
            </a:r>
          </a:p>
        </p:txBody>
      </p:sp>
      <p:pic>
        <p:nvPicPr>
          <p:cNvPr id="1029" name="Picture 5" descr="Icône de Bluetooth logo">
            <a:extLst>
              <a:ext uri="{FF2B5EF4-FFF2-40B4-BE49-F238E27FC236}">
                <a16:creationId xmlns:a16="http://schemas.microsoft.com/office/drawing/2014/main" id="{1BFCE7C2-273B-5FD8-615B-1F9A204BC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073" y="4949737"/>
            <a:ext cx="842801" cy="84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图形 44" descr="Wi-Fi 纯色填充">
            <a:extLst>
              <a:ext uri="{FF2B5EF4-FFF2-40B4-BE49-F238E27FC236}">
                <a16:creationId xmlns:a16="http://schemas.microsoft.com/office/drawing/2014/main" id="{AB0437AA-FF59-3C7B-9F53-B9231BC0CE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4061" y="27862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030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1CAD-A56E-B789-046D-87B9FE93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9CD665B-3BF9-F4DF-7707-66A5890B6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40" t="43697" r="14842" b="32213"/>
          <a:stretch>
            <a:fillRect/>
          </a:stretch>
        </p:blipFill>
        <p:spPr bwMode="auto">
          <a:xfrm>
            <a:off x="9643462" y="2735512"/>
            <a:ext cx="2366682" cy="330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953B6FDE-546D-AB8D-E62C-EE26D03BF8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67369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D78B7E7-39C5-77AA-8FEF-EE82D33B516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850D9F82-0414-CBE5-B11A-40462C166A2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6B6CA5F5-5CBF-E0C7-3BE2-91D0CBC35C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6AC2ABE-8A96-1AC3-0C39-F4F83DE6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3.2 F2-Post-fall Situation Assessment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05033F-247A-0F15-E2AD-434649948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23" name="矩形: 剪去对角 22">
            <a:extLst>
              <a:ext uri="{FF2B5EF4-FFF2-40B4-BE49-F238E27FC236}">
                <a16:creationId xmlns:a16="http://schemas.microsoft.com/office/drawing/2014/main" id="{18621444-A31B-5B6C-1B4F-A8A1130013ED}"/>
              </a:ext>
            </a:extLst>
          </p:cNvPr>
          <p:cNvSpPr/>
          <p:nvPr/>
        </p:nvSpPr>
        <p:spPr>
          <a:xfrm>
            <a:off x="838200" y="1343818"/>
            <a:ext cx="1536807" cy="929768"/>
          </a:xfrm>
          <a:prstGeom prst="snip2DiagRect">
            <a:avLst/>
          </a:prstGeom>
          <a:solidFill>
            <a:srgbClr val="1B6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Purpose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8A2CD62-9257-92B0-4C51-2F0A4D7071FF}"/>
              </a:ext>
            </a:extLst>
          </p:cNvPr>
          <p:cNvSpPr/>
          <p:nvPr/>
        </p:nvSpPr>
        <p:spPr>
          <a:xfrm>
            <a:off x="2447370" y="1343818"/>
            <a:ext cx="7206983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Assess whether the user can recover after the fall.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Differentiate minor falls vs. critical / emergency falls.</a:t>
            </a:r>
          </a:p>
        </p:txBody>
      </p:sp>
      <p:sp>
        <p:nvSpPr>
          <p:cNvPr id="25" name="矩形: 剪去对角 24">
            <a:extLst>
              <a:ext uri="{FF2B5EF4-FFF2-40B4-BE49-F238E27FC236}">
                <a16:creationId xmlns:a16="http://schemas.microsoft.com/office/drawing/2014/main" id="{6E29970B-DEBC-9C38-29F0-58D54EA92790}"/>
              </a:ext>
            </a:extLst>
          </p:cNvPr>
          <p:cNvSpPr/>
          <p:nvPr/>
        </p:nvSpPr>
        <p:spPr>
          <a:xfrm>
            <a:off x="838200" y="2495142"/>
            <a:ext cx="1536807" cy="929768"/>
          </a:xfrm>
          <a:prstGeom prst="snip2DiagRect">
            <a:avLst/>
          </a:prstGeom>
          <a:solidFill>
            <a:srgbClr val="1B6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Role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12761B7-EE1A-2182-34F1-3635A5554A37}"/>
              </a:ext>
            </a:extLst>
          </p:cNvPr>
          <p:cNvSpPr/>
          <p:nvPr/>
        </p:nvSpPr>
        <p:spPr>
          <a:xfrm>
            <a:off x="2436479" y="2495142"/>
            <a:ext cx="7206983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Refines risk and urgency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Supports alert prioritization.</a:t>
            </a:r>
          </a:p>
        </p:txBody>
      </p:sp>
      <p:sp>
        <p:nvSpPr>
          <p:cNvPr id="27" name="矩形: 剪去对角 26">
            <a:extLst>
              <a:ext uri="{FF2B5EF4-FFF2-40B4-BE49-F238E27FC236}">
                <a16:creationId xmlns:a16="http://schemas.microsoft.com/office/drawing/2014/main" id="{C856A378-730A-B091-21AE-B0148BC831F7}"/>
              </a:ext>
            </a:extLst>
          </p:cNvPr>
          <p:cNvSpPr/>
          <p:nvPr/>
        </p:nvSpPr>
        <p:spPr>
          <a:xfrm>
            <a:off x="838200" y="3700698"/>
            <a:ext cx="1536807" cy="929768"/>
          </a:xfrm>
          <a:prstGeom prst="snip2DiagRect">
            <a:avLst/>
          </a:prstGeom>
          <a:solidFill>
            <a:srgbClr val="1B6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Devices &amp; Data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03BE3E0-F486-3C99-6B51-ABF5284D30E1}"/>
              </a:ext>
            </a:extLst>
          </p:cNvPr>
          <p:cNvSpPr/>
          <p:nvPr/>
        </p:nvSpPr>
        <p:spPr>
          <a:xfrm>
            <a:off x="2436480" y="3700698"/>
            <a:ext cx="7206982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Device: wrist-worn wearable (IMU)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Data: 3-axis acceleration, 3-axis angular velocity, timestamps</a:t>
            </a:r>
          </a:p>
        </p:txBody>
      </p:sp>
      <p:sp>
        <p:nvSpPr>
          <p:cNvPr id="29" name="矩形: 剪去对角 28">
            <a:extLst>
              <a:ext uri="{FF2B5EF4-FFF2-40B4-BE49-F238E27FC236}">
                <a16:creationId xmlns:a16="http://schemas.microsoft.com/office/drawing/2014/main" id="{B1C8E797-268F-6A8A-5291-3EB1F0219CE5}"/>
              </a:ext>
            </a:extLst>
          </p:cNvPr>
          <p:cNvSpPr/>
          <p:nvPr/>
        </p:nvSpPr>
        <p:spPr>
          <a:xfrm>
            <a:off x="838200" y="4906254"/>
            <a:ext cx="1536807" cy="929768"/>
          </a:xfrm>
          <a:prstGeom prst="snip2DiagRect">
            <a:avLst/>
          </a:prstGeom>
          <a:solidFill>
            <a:srgbClr val="1B689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9805E55-38B5-AC1D-58E3-4063FF3FD45E}"/>
              </a:ext>
            </a:extLst>
          </p:cNvPr>
          <p:cNvSpPr/>
          <p:nvPr/>
        </p:nvSpPr>
        <p:spPr>
          <a:xfrm>
            <a:off x="2436479" y="4906254"/>
            <a:ext cx="7217873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Post-fall motion status → recovery movements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Estimated severity level of the fall.</a:t>
            </a:r>
          </a:p>
        </p:txBody>
      </p:sp>
      <p:pic>
        <p:nvPicPr>
          <p:cNvPr id="33" name="图形 32" descr="Wi-Fi 纯色填充">
            <a:extLst>
              <a:ext uri="{FF2B5EF4-FFF2-40B4-BE49-F238E27FC236}">
                <a16:creationId xmlns:a16="http://schemas.microsoft.com/office/drawing/2014/main" id="{22F50800-F9A4-4374-D376-EFF542FD78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2378" y="1525149"/>
            <a:ext cx="914400" cy="914400"/>
          </a:xfrm>
          <a:prstGeom prst="rect">
            <a:avLst/>
          </a:prstGeom>
        </p:spPr>
      </p:pic>
      <p:pic>
        <p:nvPicPr>
          <p:cNvPr id="34" name="Picture 5" descr="Icône de Bluetooth logo">
            <a:extLst>
              <a:ext uri="{FF2B5EF4-FFF2-40B4-BE49-F238E27FC236}">
                <a16:creationId xmlns:a16="http://schemas.microsoft.com/office/drawing/2014/main" id="{50249A18-E6B8-3541-82BE-375D00B9E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9619" y="1603982"/>
            <a:ext cx="842801" cy="84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029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7D174-0B80-3329-5283-1C9F422DA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4F39D56-8A92-37D9-8A4D-8B43BF4A9E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56" t="5661" r="18861" b="6700"/>
          <a:stretch>
            <a:fillRect/>
          </a:stretch>
        </p:blipFill>
        <p:spPr bwMode="auto">
          <a:xfrm>
            <a:off x="7419574" y="2373529"/>
            <a:ext cx="4590570" cy="3567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C059A7-8920-9BC6-ACCE-7707836EEBA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67369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44AE934-B6ED-3503-F4C4-C5E1EB88666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FED707ED-AABB-AA1C-5744-F4785ACED30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9732A7FC-54BE-494B-E85B-02BC9ECA348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5ACB2D8D-143B-B8BC-4708-3A76A4F5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3.3 F3-Indoor Fall Location Identification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084A08-21AC-B38A-011B-79FFC37E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10" name="矩形: 剪去对角 9">
            <a:extLst>
              <a:ext uri="{FF2B5EF4-FFF2-40B4-BE49-F238E27FC236}">
                <a16:creationId xmlns:a16="http://schemas.microsoft.com/office/drawing/2014/main" id="{BC9ED4DA-26F7-4389-43A6-4C4A8B94598E}"/>
              </a:ext>
            </a:extLst>
          </p:cNvPr>
          <p:cNvSpPr/>
          <p:nvPr/>
        </p:nvSpPr>
        <p:spPr>
          <a:xfrm>
            <a:off x="838200" y="1343818"/>
            <a:ext cx="1536807" cy="753923"/>
          </a:xfrm>
          <a:prstGeom prst="snip2DiagRect">
            <a:avLst/>
          </a:prstGeom>
          <a:solidFill>
            <a:srgbClr val="3C82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Purpose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17C6DE-9EBC-DEFD-A65A-5895B9CFA259}"/>
              </a:ext>
            </a:extLst>
          </p:cNvPr>
          <p:cNvSpPr/>
          <p:nvPr/>
        </p:nvSpPr>
        <p:spPr>
          <a:xfrm>
            <a:off x="2436480" y="1343818"/>
            <a:ext cx="7932618" cy="75392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Determine where the fall event occurred (event-time location).</a:t>
            </a:r>
          </a:p>
        </p:txBody>
      </p:sp>
      <p:sp>
        <p:nvSpPr>
          <p:cNvPr id="13" name="矩形: 剪去对角 12">
            <a:extLst>
              <a:ext uri="{FF2B5EF4-FFF2-40B4-BE49-F238E27FC236}">
                <a16:creationId xmlns:a16="http://schemas.microsoft.com/office/drawing/2014/main" id="{ADCAF129-2D46-CEC0-9AAC-FFF12E6E0F96}"/>
              </a:ext>
            </a:extLst>
          </p:cNvPr>
          <p:cNvSpPr/>
          <p:nvPr/>
        </p:nvSpPr>
        <p:spPr>
          <a:xfrm>
            <a:off x="838200" y="2373529"/>
            <a:ext cx="1536807" cy="1051381"/>
          </a:xfrm>
          <a:prstGeom prst="snip2DiagRect">
            <a:avLst/>
          </a:prstGeom>
          <a:solidFill>
            <a:srgbClr val="3C82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Role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512B48-65AF-D7DC-EBE6-1D19CA7AE12C}"/>
              </a:ext>
            </a:extLst>
          </p:cNvPr>
          <p:cNvSpPr/>
          <p:nvPr/>
        </p:nvSpPr>
        <p:spPr>
          <a:xfrm>
            <a:off x="2436479" y="2373529"/>
            <a:ext cx="5936244" cy="105138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Provides accurate spatial feedback.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Embeds fall events into indoor spatial context.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Supports navigation and rescue response.</a:t>
            </a:r>
          </a:p>
        </p:txBody>
      </p:sp>
      <p:sp>
        <p:nvSpPr>
          <p:cNvPr id="15" name="矩形: 剪去对角 14">
            <a:extLst>
              <a:ext uri="{FF2B5EF4-FFF2-40B4-BE49-F238E27FC236}">
                <a16:creationId xmlns:a16="http://schemas.microsoft.com/office/drawing/2014/main" id="{EF14CE2B-8BDA-3A2B-C6F1-144FFB5CDDAA}"/>
              </a:ext>
            </a:extLst>
          </p:cNvPr>
          <p:cNvSpPr/>
          <p:nvPr/>
        </p:nvSpPr>
        <p:spPr>
          <a:xfrm>
            <a:off x="838200" y="3700698"/>
            <a:ext cx="1536807" cy="929768"/>
          </a:xfrm>
          <a:prstGeom prst="snip2DiagRect">
            <a:avLst/>
          </a:prstGeom>
          <a:solidFill>
            <a:srgbClr val="3C82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Devices &amp; Data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B1E4894-091F-9525-32D3-50B881FF6944}"/>
              </a:ext>
            </a:extLst>
          </p:cNvPr>
          <p:cNvSpPr/>
          <p:nvPr/>
        </p:nvSpPr>
        <p:spPr>
          <a:xfrm>
            <a:off x="2436481" y="3700698"/>
            <a:ext cx="4983094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Devices: BLE beacons / Wi-Fi 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Data: RSSI signals, timestamps</a:t>
            </a:r>
          </a:p>
        </p:txBody>
      </p:sp>
      <p:sp>
        <p:nvSpPr>
          <p:cNvPr id="17" name="矩形: 剪去对角 16">
            <a:extLst>
              <a:ext uri="{FF2B5EF4-FFF2-40B4-BE49-F238E27FC236}">
                <a16:creationId xmlns:a16="http://schemas.microsoft.com/office/drawing/2014/main" id="{68184A05-A3F9-1ACD-BC6F-075256BA957C}"/>
              </a:ext>
            </a:extLst>
          </p:cNvPr>
          <p:cNvSpPr/>
          <p:nvPr/>
        </p:nvSpPr>
        <p:spPr>
          <a:xfrm>
            <a:off x="838200" y="4906254"/>
            <a:ext cx="1536807" cy="929768"/>
          </a:xfrm>
          <a:prstGeom prst="snip2DiagRect">
            <a:avLst/>
          </a:prstGeom>
          <a:solidFill>
            <a:srgbClr val="3C82A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435418D-3943-188B-7F01-76B87A27E4D2}"/>
              </a:ext>
            </a:extLst>
          </p:cNvPr>
          <p:cNvSpPr/>
          <p:nvPr/>
        </p:nvSpPr>
        <p:spPr>
          <a:xfrm>
            <a:off x="2436480" y="4906254"/>
            <a:ext cx="4274421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Predicted </a:t>
            </a:r>
            <a:r>
              <a:rPr lang="en-US" altLang="zh-CN" sz="2000" dirty="0">
                <a:solidFill>
                  <a:schemeClr val="tx1"/>
                </a:solidFill>
              </a:rPr>
              <a:t>zone</a:t>
            </a:r>
            <a:r>
              <a:rPr lang="en-US" sz="2000" dirty="0">
                <a:solidFill>
                  <a:schemeClr val="tx1"/>
                </a:solidFill>
              </a:rPr>
              <a:t> / </a:t>
            </a:r>
            <a:r>
              <a:rPr lang="en-US" altLang="zh-CN" sz="2000" dirty="0">
                <a:solidFill>
                  <a:schemeClr val="tx1"/>
                </a:solidFill>
              </a:rPr>
              <a:t>room</a:t>
            </a:r>
            <a:r>
              <a:rPr lang="en-US" sz="2000" dirty="0">
                <a:solidFill>
                  <a:schemeClr val="tx1"/>
                </a:solidFill>
              </a:rPr>
              <a:t> of the 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Associated confidence level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9F7E509-E649-AFA7-F86E-90C8F60CE2BE}"/>
              </a:ext>
            </a:extLst>
          </p:cNvPr>
          <p:cNvSpPr txBox="1"/>
          <p:nvPr/>
        </p:nvSpPr>
        <p:spPr>
          <a:xfrm>
            <a:off x="838200" y="6481192"/>
            <a:ext cx="787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Figure Source: Clemente et al., “Indoor Person Identification and Fall Detection through Non-Intrusive Floor Seismic Sensing.”</a:t>
            </a:r>
          </a:p>
          <a:p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254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8348-9C7B-4F74-7EB5-8196E96A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6CFDC9-3BC3-E97F-007F-95E92417D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3.4 F4-Decision &amp; Alerting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9AD753-3583-B81F-C114-E55634B0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11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4D44F8C-F6D9-D653-FF06-D14B672D5F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C84B36A-6B83-6247-910E-DD319F97334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CCE8D66B-842F-9C25-BD66-5E9C5671641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BF7808B2-B017-1761-C3C8-83F88BA8C4C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矩形: 剪去对角 18">
            <a:extLst>
              <a:ext uri="{FF2B5EF4-FFF2-40B4-BE49-F238E27FC236}">
                <a16:creationId xmlns:a16="http://schemas.microsoft.com/office/drawing/2014/main" id="{6889BFBC-A506-FD51-F54B-8B15AF9E4704}"/>
              </a:ext>
            </a:extLst>
          </p:cNvPr>
          <p:cNvSpPr/>
          <p:nvPr/>
        </p:nvSpPr>
        <p:spPr>
          <a:xfrm>
            <a:off x="838200" y="1343818"/>
            <a:ext cx="1536807" cy="929768"/>
          </a:xfrm>
          <a:prstGeom prst="snip2DiagRect">
            <a:avLst/>
          </a:prstGeom>
          <a:solidFill>
            <a:srgbClr val="6692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Purpose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C2B9494-E233-C5B9-47C4-84DAEDFA30C8}"/>
              </a:ext>
            </a:extLst>
          </p:cNvPr>
          <p:cNvSpPr/>
          <p:nvPr/>
        </p:nvSpPr>
        <p:spPr>
          <a:xfrm>
            <a:off x="2436480" y="1343818"/>
            <a:ext cx="5747015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Fuse information from F1, F2 and F3.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Generate alerts with different priority levels.</a:t>
            </a:r>
          </a:p>
        </p:txBody>
      </p:sp>
      <p:sp>
        <p:nvSpPr>
          <p:cNvPr id="21" name="矩形: 剪去对角 20">
            <a:extLst>
              <a:ext uri="{FF2B5EF4-FFF2-40B4-BE49-F238E27FC236}">
                <a16:creationId xmlns:a16="http://schemas.microsoft.com/office/drawing/2014/main" id="{9C177C1A-FA2E-DA4F-1735-CC29C3BA960C}"/>
              </a:ext>
            </a:extLst>
          </p:cNvPr>
          <p:cNvSpPr/>
          <p:nvPr/>
        </p:nvSpPr>
        <p:spPr>
          <a:xfrm>
            <a:off x="838200" y="2566478"/>
            <a:ext cx="1536807" cy="929768"/>
          </a:xfrm>
          <a:prstGeom prst="snip2DiagRect">
            <a:avLst/>
          </a:prstGeom>
          <a:solidFill>
            <a:srgbClr val="6692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Role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29F5D0F-6180-F2D4-13CE-44259C997652}"/>
              </a:ext>
            </a:extLst>
          </p:cNvPr>
          <p:cNvSpPr/>
          <p:nvPr/>
        </p:nvSpPr>
        <p:spPr>
          <a:xfrm>
            <a:off x="2436479" y="2566478"/>
            <a:ext cx="5747016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Transforms the system from event detection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→ to decision support &amp; operational response</a:t>
            </a:r>
          </a:p>
        </p:txBody>
      </p:sp>
      <p:sp>
        <p:nvSpPr>
          <p:cNvPr id="23" name="矩形: 剪去对角 22">
            <a:extLst>
              <a:ext uri="{FF2B5EF4-FFF2-40B4-BE49-F238E27FC236}">
                <a16:creationId xmlns:a16="http://schemas.microsoft.com/office/drawing/2014/main" id="{55627A85-9C5D-9E7C-7956-20EDA56D3DA5}"/>
              </a:ext>
            </a:extLst>
          </p:cNvPr>
          <p:cNvSpPr/>
          <p:nvPr/>
        </p:nvSpPr>
        <p:spPr>
          <a:xfrm>
            <a:off x="838200" y="3772034"/>
            <a:ext cx="1536807" cy="929768"/>
          </a:xfrm>
          <a:prstGeom prst="snip2DiagRect">
            <a:avLst/>
          </a:prstGeom>
          <a:solidFill>
            <a:srgbClr val="6692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Devices &amp; Data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D75A9DE-3462-FBD4-5393-3F790C4E29EA}"/>
              </a:ext>
            </a:extLst>
          </p:cNvPr>
          <p:cNvSpPr/>
          <p:nvPr/>
        </p:nvSpPr>
        <p:spPr>
          <a:xfrm>
            <a:off x="2436480" y="3772034"/>
            <a:ext cx="5747016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Devices: backend server / monitoring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Data: structured outputs from F1-F3</a:t>
            </a:r>
          </a:p>
        </p:txBody>
      </p:sp>
      <p:sp>
        <p:nvSpPr>
          <p:cNvPr id="25" name="矩形: 剪去对角 24">
            <a:extLst>
              <a:ext uri="{FF2B5EF4-FFF2-40B4-BE49-F238E27FC236}">
                <a16:creationId xmlns:a16="http://schemas.microsoft.com/office/drawing/2014/main" id="{478BCE30-0601-87B7-BC90-C0422C9375D8}"/>
              </a:ext>
            </a:extLst>
          </p:cNvPr>
          <p:cNvSpPr/>
          <p:nvPr/>
        </p:nvSpPr>
        <p:spPr>
          <a:xfrm>
            <a:off x="838200" y="4977590"/>
            <a:ext cx="1536807" cy="929768"/>
          </a:xfrm>
          <a:prstGeom prst="snip2DiagRect">
            <a:avLst/>
          </a:prstGeom>
          <a:solidFill>
            <a:srgbClr val="6692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D8A3E4C-5F71-2733-922F-545C2EBF8DBD}"/>
              </a:ext>
            </a:extLst>
          </p:cNvPr>
          <p:cNvSpPr/>
          <p:nvPr/>
        </p:nvSpPr>
        <p:spPr>
          <a:xfrm>
            <a:off x="2436479" y="4977590"/>
            <a:ext cx="5747015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Structured alert message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(event time, room / zone, severity)</a:t>
            </a:r>
          </a:p>
        </p:txBody>
      </p:sp>
      <p:grpSp>
        <p:nvGrpSpPr>
          <p:cNvPr id="5186" name="组合 5185">
            <a:extLst>
              <a:ext uri="{FF2B5EF4-FFF2-40B4-BE49-F238E27FC236}">
                <a16:creationId xmlns:a16="http://schemas.microsoft.com/office/drawing/2014/main" id="{2B82DE4A-F097-67B6-C18C-38FD30A0E8D1}"/>
              </a:ext>
            </a:extLst>
          </p:cNvPr>
          <p:cNvGrpSpPr/>
          <p:nvPr/>
        </p:nvGrpSpPr>
        <p:grpSpPr>
          <a:xfrm>
            <a:off x="8587207" y="1271251"/>
            <a:ext cx="2766593" cy="4620747"/>
            <a:chOff x="8587207" y="1271251"/>
            <a:chExt cx="2766593" cy="4620747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7E23E922-7ED7-AFEA-F6BB-65C9E473CD96}"/>
                </a:ext>
              </a:extLst>
            </p:cNvPr>
            <p:cNvGrpSpPr/>
            <p:nvPr/>
          </p:nvGrpSpPr>
          <p:grpSpPr>
            <a:xfrm>
              <a:off x="9084536" y="1271251"/>
              <a:ext cx="2042854" cy="1011135"/>
              <a:chOff x="9452255" y="2478470"/>
              <a:chExt cx="2162881" cy="1015302"/>
            </a:xfrm>
          </p:grpSpPr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E3AFDF25-68F9-412B-1E21-2C7DDA14A7B2}"/>
                  </a:ext>
                </a:extLst>
              </p:cNvPr>
              <p:cNvGrpSpPr/>
              <p:nvPr/>
            </p:nvGrpSpPr>
            <p:grpSpPr>
              <a:xfrm>
                <a:off x="9452255" y="2564004"/>
                <a:ext cx="2142002" cy="929768"/>
                <a:chOff x="9143282" y="2566477"/>
                <a:chExt cx="2364923" cy="1015167"/>
              </a:xfrm>
            </p:grpSpPr>
            <p:pic>
              <p:nvPicPr>
                <p:cNvPr id="42" name="Picture 5" descr="Icône de Bluetooth logo">
                  <a:extLst>
                    <a:ext uri="{FF2B5EF4-FFF2-40B4-BE49-F238E27FC236}">
                      <a16:creationId xmlns:a16="http://schemas.microsoft.com/office/drawing/2014/main" id="{C0CB5292-5CC5-813E-4242-27E5F2A8D91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665404" y="2632236"/>
                  <a:ext cx="842801" cy="8428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7" name="图形 36" descr="Wi-Fi 纯色填充">
                  <a:extLst>
                    <a:ext uri="{FF2B5EF4-FFF2-40B4-BE49-F238E27FC236}">
                      <a16:creationId xmlns:a16="http://schemas.microsoft.com/office/drawing/2014/main" id="{1A288409-6D4D-93F0-0BEA-6840D46B11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166334" y="260489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39" name="图形 38" descr="手表 纯色填充">
                  <a:extLst>
                    <a:ext uri="{FF2B5EF4-FFF2-40B4-BE49-F238E27FC236}">
                      <a16:creationId xmlns:a16="http://schemas.microsoft.com/office/drawing/2014/main" id="{4FDC31C6-D0E5-BDC7-8517-6F94162477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989884" y="2703575"/>
                  <a:ext cx="725425" cy="725425"/>
                </a:xfrm>
                <a:prstGeom prst="rect">
                  <a:avLst/>
                </a:prstGeom>
              </p:spPr>
            </p:pic>
            <p:sp>
              <p:nvSpPr>
                <p:cNvPr id="51" name="图文框 50">
                  <a:extLst>
                    <a:ext uri="{FF2B5EF4-FFF2-40B4-BE49-F238E27FC236}">
                      <a16:creationId xmlns:a16="http://schemas.microsoft.com/office/drawing/2014/main" id="{1201480A-FE7E-F931-A77F-8FFE65FAA517}"/>
                    </a:ext>
                  </a:extLst>
                </p:cNvPr>
                <p:cNvSpPr/>
                <p:nvPr/>
              </p:nvSpPr>
              <p:spPr>
                <a:xfrm>
                  <a:off x="9143282" y="2566477"/>
                  <a:ext cx="2364923" cy="1015167"/>
                </a:xfrm>
                <a:prstGeom prst="fram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63F81E6-8849-8FEC-20E0-84B6FA480109}"/>
                  </a:ext>
                </a:extLst>
              </p:cNvPr>
              <p:cNvSpPr txBox="1"/>
              <p:nvPr/>
            </p:nvSpPr>
            <p:spPr>
              <a:xfrm>
                <a:off x="10020065" y="2478470"/>
                <a:ext cx="15950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Data Sources</a:t>
                </a:r>
              </a:p>
            </p:txBody>
          </p:sp>
        </p:grpSp>
        <p:grpSp>
          <p:nvGrpSpPr>
            <p:cNvPr id="5123" name="组合 5122">
              <a:extLst>
                <a:ext uri="{FF2B5EF4-FFF2-40B4-BE49-F238E27FC236}">
                  <a16:creationId xmlns:a16="http://schemas.microsoft.com/office/drawing/2014/main" id="{7B03A8AC-E61D-6905-0B8F-C3FA1665D02F}"/>
                </a:ext>
              </a:extLst>
            </p:cNvPr>
            <p:cNvGrpSpPr/>
            <p:nvPr/>
          </p:nvGrpSpPr>
          <p:grpSpPr>
            <a:xfrm>
              <a:off x="9459046" y="3617105"/>
              <a:ext cx="1330869" cy="1219354"/>
              <a:chOff x="10294730" y="4949129"/>
              <a:chExt cx="990554" cy="958229"/>
            </a:xfrm>
          </p:grpSpPr>
          <p:pic>
            <p:nvPicPr>
              <p:cNvPr id="35" name="图形 34" descr="电铃 纯色填充">
                <a:extLst>
                  <a:ext uri="{FF2B5EF4-FFF2-40B4-BE49-F238E27FC236}">
                    <a16:creationId xmlns:a16="http://schemas.microsoft.com/office/drawing/2014/main" id="{894EA2A4-C181-2F8C-6628-B7A19F1FFD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0426946" y="5109563"/>
                <a:ext cx="741235" cy="720548"/>
              </a:xfrm>
              <a:prstGeom prst="rect">
                <a:avLst/>
              </a:prstGeom>
            </p:spPr>
          </p:pic>
          <p:sp>
            <p:nvSpPr>
              <p:cNvPr id="58" name="图文框 57">
                <a:extLst>
                  <a:ext uri="{FF2B5EF4-FFF2-40B4-BE49-F238E27FC236}">
                    <a16:creationId xmlns:a16="http://schemas.microsoft.com/office/drawing/2014/main" id="{4A937348-C230-3928-F785-126B292EF48A}"/>
                  </a:ext>
                </a:extLst>
              </p:cNvPr>
              <p:cNvSpPr/>
              <p:nvPr/>
            </p:nvSpPr>
            <p:spPr>
              <a:xfrm>
                <a:off x="10294730" y="5003539"/>
                <a:ext cx="990554" cy="903819"/>
              </a:xfrm>
              <a:prstGeom prst="fram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FE78EF2-7E80-5045-2902-2DEF2F0C0666}"/>
                  </a:ext>
                </a:extLst>
              </p:cNvPr>
              <p:cNvSpPr txBox="1"/>
              <p:nvPr/>
            </p:nvSpPr>
            <p:spPr>
              <a:xfrm>
                <a:off x="10549972" y="4949129"/>
                <a:ext cx="676195" cy="269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Alert</a:t>
                </a:r>
              </a:p>
            </p:txBody>
          </p:sp>
        </p:grpSp>
        <p:grpSp>
          <p:nvGrpSpPr>
            <p:cNvPr id="5124" name="组合 5123">
              <a:extLst>
                <a:ext uri="{FF2B5EF4-FFF2-40B4-BE49-F238E27FC236}">
                  <a16:creationId xmlns:a16="http://schemas.microsoft.com/office/drawing/2014/main" id="{D5F605ED-0ECF-94BD-BE57-8601DEFF1862}"/>
                </a:ext>
              </a:extLst>
            </p:cNvPr>
            <p:cNvGrpSpPr/>
            <p:nvPr/>
          </p:nvGrpSpPr>
          <p:grpSpPr>
            <a:xfrm>
              <a:off x="8805616" y="2449740"/>
              <a:ext cx="2548184" cy="1045658"/>
              <a:chOff x="8618252" y="4150045"/>
              <a:chExt cx="2653805" cy="1109676"/>
            </a:xfrm>
          </p:grpSpPr>
          <p:grpSp>
            <p:nvGrpSpPr>
              <p:cNvPr id="5121" name="组合 5120">
                <a:extLst>
                  <a:ext uri="{FF2B5EF4-FFF2-40B4-BE49-F238E27FC236}">
                    <a16:creationId xmlns:a16="http://schemas.microsoft.com/office/drawing/2014/main" id="{7116C1B0-8CF4-62FC-ABD5-157E2E4788BE}"/>
                  </a:ext>
                </a:extLst>
              </p:cNvPr>
              <p:cNvGrpSpPr/>
              <p:nvPr/>
            </p:nvGrpSpPr>
            <p:grpSpPr>
              <a:xfrm>
                <a:off x="8618252" y="4236918"/>
                <a:ext cx="2653805" cy="1022803"/>
                <a:chOff x="8610600" y="3692374"/>
                <a:chExt cx="2653805" cy="1022803"/>
              </a:xfrm>
            </p:grpSpPr>
            <p:pic>
              <p:nvPicPr>
                <p:cNvPr id="31" name="图形 30" descr="便携式计算机 纯色填充">
                  <a:extLst>
                    <a:ext uri="{FF2B5EF4-FFF2-40B4-BE49-F238E27FC236}">
                      <a16:creationId xmlns:a16="http://schemas.microsoft.com/office/drawing/2014/main" id="{B8E86789-1C4C-2F5F-6155-7C6F426958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02254" y="3742603"/>
                  <a:ext cx="940188" cy="940188"/>
                </a:xfrm>
                <a:prstGeom prst="rect">
                  <a:avLst/>
                </a:prstGeom>
              </p:spPr>
            </p:pic>
            <p:sp>
              <p:nvSpPr>
                <p:cNvPr id="55" name="图文框 54">
                  <a:extLst>
                    <a:ext uri="{FF2B5EF4-FFF2-40B4-BE49-F238E27FC236}">
                      <a16:creationId xmlns:a16="http://schemas.microsoft.com/office/drawing/2014/main" id="{5A20721D-B8ED-08B4-012B-6AD46743423D}"/>
                    </a:ext>
                  </a:extLst>
                </p:cNvPr>
                <p:cNvSpPr/>
                <p:nvPr/>
              </p:nvSpPr>
              <p:spPr>
                <a:xfrm>
                  <a:off x="8610600" y="3692374"/>
                  <a:ext cx="2653805" cy="1022803"/>
                </a:xfrm>
                <a:prstGeom prst="frame">
                  <a:avLst>
                    <a:gd name="adj1" fmla="val 125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62" name="图形 61" descr="无线路由器 轮廓">
                  <a:extLst>
                    <a:ext uri="{FF2B5EF4-FFF2-40B4-BE49-F238E27FC236}">
                      <a16:creationId xmlns:a16="http://schemas.microsoft.com/office/drawing/2014/main" id="{C0BDCEA6-D6A6-EC34-56D0-8BC25B3F90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25948" y="3857710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5120" name="图形 5119" descr="数据库 轮廓">
                  <a:extLst>
                    <a:ext uri="{FF2B5EF4-FFF2-40B4-BE49-F238E27FC236}">
                      <a16:creationId xmlns:a16="http://schemas.microsoft.com/office/drawing/2014/main" id="{E032BDEC-28F9-F48A-1A55-3DCC855AE7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432559" y="3838645"/>
                  <a:ext cx="731520" cy="731520"/>
                </a:xfrm>
                <a:prstGeom prst="rect">
                  <a:avLst/>
                </a:prstGeom>
              </p:spPr>
            </p:pic>
          </p:grp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F602A006-7CB0-2C79-7E0B-11E956F83BD2}"/>
                  </a:ext>
                </a:extLst>
              </p:cNvPr>
              <p:cNvSpPr txBox="1"/>
              <p:nvPr/>
            </p:nvSpPr>
            <p:spPr>
              <a:xfrm>
                <a:off x="9497330" y="4150045"/>
                <a:ext cx="1471871" cy="277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Processing</a:t>
                </a:r>
              </a:p>
            </p:txBody>
          </p:sp>
        </p:grpSp>
        <p:grpSp>
          <p:nvGrpSpPr>
            <p:cNvPr id="5126" name="组合 5125">
              <a:extLst>
                <a:ext uri="{FF2B5EF4-FFF2-40B4-BE49-F238E27FC236}">
                  <a16:creationId xmlns:a16="http://schemas.microsoft.com/office/drawing/2014/main" id="{AD939EC7-B1D1-D83B-0EAA-9DA4CA5AB2C7}"/>
                </a:ext>
              </a:extLst>
            </p:cNvPr>
            <p:cNvGrpSpPr/>
            <p:nvPr/>
          </p:nvGrpSpPr>
          <p:grpSpPr>
            <a:xfrm>
              <a:off x="8587207" y="4896341"/>
              <a:ext cx="2636071" cy="995657"/>
              <a:chOff x="7119449" y="4911701"/>
              <a:chExt cx="2636071" cy="995657"/>
            </a:xfrm>
          </p:grpSpPr>
          <p:pic>
            <p:nvPicPr>
              <p:cNvPr id="33" name="图形 32" descr="手机振动 纯色填充">
                <a:extLst>
                  <a:ext uri="{FF2B5EF4-FFF2-40B4-BE49-F238E27FC236}">
                    <a16:creationId xmlns:a16="http://schemas.microsoft.com/office/drawing/2014/main" id="{93EB7506-D96C-0739-A140-369BF2410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8960200" y="5179486"/>
                <a:ext cx="597185" cy="586732"/>
              </a:xfrm>
              <a:prstGeom prst="rect">
                <a:avLst/>
              </a:prstGeom>
            </p:spPr>
          </p:pic>
          <p:pic>
            <p:nvPicPr>
              <p:cNvPr id="45" name="图形 44" descr="医学 纯色填充">
                <a:extLst>
                  <a:ext uri="{FF2B5EF4-FFF2-40B4-BE49-F238E27FC236}">
                    <a16:creationId xmlns:a16="http://schemas.microsoft.com/office/drawing/2014/main" id="{2F2FE2AB-F6C8-F5F6-EEFD-24FF32E6D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7295977" y="5179486"/>
                <a:ext cx="597185" cy="586732"/>
              </a:xfrm>
              <a:prstGeom prst="rect">
                <a:avLst/>
              </a:prstGeom>
            </p:spPr>
          </p:pic>
          <p:pic>
            <p:nvPicPr>
              <p:cNvPr id="47" name="图形 46" descr="女医生 纯色填充">
                <a:extLst>
                  <a:ext uri="{FF2B5EF4-FFF2-40B4-BE49-F238E27FC236}">
                    <a16:creationId xmlns:a16="http://schemas.microsoft.com/office/drawing/2014/main" id="{196FB70C-D98B-F207-0ACD-07E22ADD1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8169865" y="5165017"/>
                <a:ext cx="597185" cy="586732"/>
              </a:xfrm>
              <a:prstGeom prst="rect">
                <a:avLst/>
              </a:prstGeom>
            </p:spPr>
          </p:pic>
          <p:sp>
            <p:nvSpPr>
              <p:cNvPr id="48" name="图文框 47">
                <a:extLst>
                  <a:ext uri="{FF2B5EF4-FFF2-40B4-BE49-F238E27FC236}">
                    <a16:creationId xmlns:a16="http://schemas.microsoft.com/office/drawing/2014/main" id="{EA55E1D5-42DC-CACC-64C1-C7A8A15C71BD}"/>
                  </a:ext>
                </a:extLst>
              </p:cNvPr>
              <p:cNvSpPr/>
              <p:nvPr/>
            </p:nvSpPr>
            <p:spPr>
              <a:xfrm>
                <a:off x="7119449" y="4992958"/>
                <a:ext cx="2636071" cy="914400"/>
              </a:xfrm>
              <a:prstGeom prst="frame">
                <a:avLst/>
              </a:prstGeom>
              <a:solidFill>
                <a:srgbClr val="00446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125" name="文本框 5124">
                <a:extLst>
                  <a:ext uri="{FF2B5EF4-FFF2-40B4-BE49-F238E27FC236}">
                    <a16:creationId xmlns:a16="http://schemas.microsoft.com/office/drawing/2014/main" id="{C4C3229E-4781-03FA-C239-57CC7D3E74EC}"/>
                  </a:ext>
                </a:extLst>
              </p:cNvPr>
              <p:cNvSpPr txBox="1"/>
              <p:nvPr/>
            </p:nvSpPr>
            <p:spPr>
              <a:xfrm>
                <a:off x="7985597" y="4911701"/>
                <a:ext cx="1471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</a:rPr>
                  <a:t>Notification</a:t>
                </a:r>
              </a:p>
            </p:txBody>
          </p:sp>
        </p:grpSp>
        <p:cxnSp>
          <p:nvCxnSpPr>
            <p:cNvPr id="5134" name="连接符: 肘形 5133">
              <a:extLst>
                <a:ext uri="{FF2B5EF4-FFF2-40B4-BE49-F238E27FC236}">
                  <a16:creationId xmlns:a16="http://schemas.microsoft.com/office/drawing/2014/main" id="{69355ACF-6E7D-938B-AE69-081CA00E05C7}"/>
                </a:ext>
              </a:extLst>
            </p:cNvPr>
            <p:cNvCxnSpPr>
              <a:cxnSpLocks/>
              <a:stCxn id="51" idx="3"/>
              <a:endCxn id="55" idx="3"/>
            </p:cNvCxnSpPr>
            <p:nvPr/>
          </p:nvCxnSpPr>
          <p:spPr>
            <a:xfrm>
              <a:off x="11107670" y="1819410"/>
              <a:ext cx="246130" cy="1194090"/>
            </a:xfrm>
            <a:prstGeom prst="bentConnector3">
              <a:avLst>
                <a:gd name="adj1" fmla="val 192878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42" name="连接符: 肘形 5141">
              <a:extLst>
                <a:ext uri="{FF2B5EF4-FFF2-40B4-BE49-F238E27FC236}">
                  <a16:creationId xmlns:a16="http://schemas.microsoft.com/office/drawing/2014/main" id="{3CA758A2-80A7-7F11-0FB1-74DB69436322}"/>
                </a:ext>
              </a:extLst>
            </p:cNvPr>
            <p:cNvCxnSpPr>
              <a:cxnSpLocks/>
              <a:stCxn id="58" idx="3"/>
              <a:endCxn id="48" idx="3"/>
            </p:cNvCxnSpPr>
            <p:nvPr/>
          </p:nvCxnSpPr>
          <p:spPr>
            <a:xfrm>
              <a:off x="10789915" y="4261401"/>
              <a:ext cx="433363" cy="1173397"/>
            </a:xfrm>
            <a:prstGeom prst="bentConnector3">
              <a:avLst>
                <a:gd name="adj1" fmla="val 152750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60" name="连接符: 肘形 5159">
              <a:extLst>
                <a:ext uri="{FF2B5EF4-FFF2-40B4-BE49-F238E27FC236}">
                  <a16:creationId xmlns:a16="http://schemas.microsoft.com/office/drawing/2014/main" id="{7E050896-2225-929F-E3FD-08B2DD08494F}"/>
                </a:ext>
              </a:extLst>
            </p:cNvPr>
            <p:cNvCxnSpPr>
              <a:cxnSpLocks/>
              <a:stCxn id="55" idx="1"/>
              <a:endCxn id="58" idx="1"/>
            </p:cNvCxnSpPr>
            <p:nvPr/>
          </p:nvCxnSpPr>
          <p:spPr>
            <a:xfrm rot="10800000" flipH="1" flipV="1">
              <a:off x="8805616" y="3013499"/>
              <a:ext cx="653430" cy="1247901"/>
            </a:xfrm>
            <a:prstGeom prst="bentConnector3">
              <a:avLst>
                <a:gd name="adj1" fmla="val -34985"/>
              </a:avLst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564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C0D3-B00F-9AAA-D812-955EBD2D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7CC7A47C-F3B3-4C10-5223-33B5159EDCB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82737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FBDD7040-8503-8976-EB90-3F91293D2EA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9E6E87E8-C45E-1349-E87A-CC0B4B7BEF6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DCB8B3E7-4B11-0C13-BD51-7A4BF2A4843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0EC8145-483A-8729-8900-FC70890E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3.5 F5-Post-event Analysis &amp; Optimization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20A14-E39C-F89C-6DE8-117FE788C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00399"/>
            <a:ext cx="2743200" cy="365125"/>
          </a:xfrm>
        </p:spPr>
        <p:txBody>
          <a:bodyPr/>
          <a:lstStyle/>
          <a:p>
            <a:fld id="{3F261A53-97B9-45D3-8032-A1B8FD9B3B7E}" type="slidenum">
              <a:rPr lang="en-US" noProof="0" smtClean="0"/>
              <a:t>12</a:t>
            </a:fld>
            <a:endParaRPr lang="en-US" noProof="0" dirty="0"/>
          </a:p>
        </p:txBody>
      </p:sp>
      <p:sp>
        <p:nvSpPr>
          <p:cNvPr id="46" name="矩形: 剪去对角 45">
            <a:extLst>
              <a:ext uri="{FF2B5EF4-FFF2-40B4-BE49-F238E27FC236}">
                <a16:creationId xmlns:a16="http://schemas.microsoft.com/office/drawing/2014/main" id="{445C433E-9A1F-416B-B8CC-E2D60F70956C}"/>
              </a:ext>
            </a:extLst>
          </p:cNvPr>
          <p:cNvSpPr/>
          <p:nvPr/>
        </p:nvSpPr>
        <p:spPr>
          <a:xfrm>
            <a:off x="838200" y="1343818"/>
            <a:ext cx="1536807" cy="929768"/>
          </a:xfrm>
          <a:prstGeom prst="snip2DiagRect">
            <a:avLst/>
          </a:prstGeom>
          <a:solidFill>
            <a:srgbClr val="8899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Purpose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0DABC9EC-05D3-A29F-1255-D0806A2FA4B7}"/>
              </a:ext>
            </a:extLst>
          </p:cNvPr>
          <p:cNvSpPr/>
          <p:nvPr/>
        </p:nvSpPr>
        <p:spPr>
          <a:xfrm>
            <a:off x="2436479" y="1343818"/>
            <a:ext cx="8848805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Long-term statistical analysis of fall frequency across locations /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Identify high-risk areas &amp; high-risk periods.</a:t>
            </a:r>
          </a:p>
        </p:txBody>
      </p:sp>
      <p:sp>
        <p:nvSpPr>
          <p:cNvPr id="48" name="矩形: 剪去对角 47">
            <a:extLst>
              <a:ext uri="{FF2B5EF4-FFF2-40B4-BE49-F238E27FC236}">
                <a16:creationId xmlns:a16="http://schemas.microsoft.com/office/drawing/2014/main" id="{C444A9F2-33EC-9FDC-446B-70BE637AE5B7}"/>
              </a:ext>
            </a:extLst>
          </p:cNvPr>
          <p:cNvSpPr/>
          <p:nvPr/>
        </p:nvSpPr>
        <p:spPr>
          <a:xfrm>
            <a:off x="838200" y="2566478"/>
            <a:ext cx="1536807" cy="929768"/>
          </a:xfrm>
          <a:prstGeom prst="snip2DiagRect">
            <a:avLst/>
          </a:prstGeom>
          <a:solidFill>
            <a:srgbClr val="8899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Role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19026DE-59EE-C761-6CE6-FA94605E2B81}"/>
              </a:ext>
            </a:extLst>
          </p:cNvPr>
          <p:cNvSpPr/>
          <p:nvPr/>
        </p:nvSpPr>
        <p:spPr>
          <a:xfrm>
            <a:off x="2436479" y="2566478"/>
            <a:ext cx="5887967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Extends system value from event handling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 → to long-term knowledge and improvement</a:t>
            </a:r>
          </a:p>
        </p:txBody>
      </p:sp>
      <p:sp>
        <p:nvSpPr>
          <p:cNvPr id="50" name="矩形: 剪去对角 49">
            <a:extLst>
              <a:ext uri="{FF2B5EF4-FFF2-40B4-BE49-F238E27FC236}">
                <a16:creationId xmlns:a16="http://schemas.microsoft.com/office/drawing/2014/main" id="{FCE85F96-E57C-53BE-BBE4-8A258E8C09BD}"/>
              </a:ext>
            </a:extLst>
          </p:cNvPr>
          <p:cNvSpPr/>
          <p:nvPr/>
        </p:nvSpPr>
        <p:spPr>
          <a:xfrm>
            <a:off x="838200" y="3772034"/>
            <a:ext cx="1536807" cy="929768"/>
          </a:xfrm>
          <a:prstGeom prst="snip2DiagRect">
            <a:avLst/>
          </a:prstGeom>
          <a:solidFill>
            <a:srgbClr val="8899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Devices &amp; Data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4AD08E7-F516-1D6F-21F3-CD931F49BED3}"/>
              </a:ext>
            </a:extLst>
          </p:cNvPr>
          <p:cNvSpPr/>
          <p:nvPr/>
        </p:nvSpPr>
        <p:spPr>
          <a:xfrm>
            <a:off x="2436480" y="3772034"/>
            <a:ext cx="6453948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source: accumulated event records from F1-F4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types: location / time / severity / alert logs</a:t>
            </a:r>
          </a:p>
        </p:txBody>
      </p:sp>
      <p:sp>
        <p:nvSpPr>
          <p:cNvPr id="52" name="矩形: 剪去对角 51">
            <a:extLst>
              <a:ext uri="{FF2B5EF4-FFF2-40B4-BE49-F238E27FC236}">
                <a16:creationId xmlns:a16="http://schemas.microsoft.com/office/drawing/2014/main" id="{E915A790-4E51-3C3B-51CC-42D3D852BC8E}"/>
              </a:ext>
            </a:extLst>
          </p:cNvPr>
          <p:cNvSpPr/>
          <p:nvPr/>
        </p:nvSpPr>
        <p:spPr>
          <a:xfrm>
            <a:off x="838200" y="4977590"/>
            <a:ext cx="1536807" cy="929768"/>
          </a:xfrm>
          <a:prstGeom prst="snip2DiagRect">
            <a:avLst/>
          </a:prstGeom>
          <a:solidFill>
            <a:srgbClr val="8899A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Output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F763B688-90F1-10B8-FF56-34710D2757AC}"/>
              </a:ext>
            </a:extLst>
          </p:cNvPr>
          <p:cNvSpPr/>
          <p:nvPr/>
        </p:nvSpPr>
        <p:spPr>
          <a:xfrm>
            <a:off x="2436480" y="4977590"/>
            <a:ext cx="4409994" cy="9297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Long-term risk analysis reports.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Spatial &amp; temporal risk patterns.</a:t>
            </a: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40B4B12-9965-9E97-FD1E-9113C019B758}"/>
              </a:ext>
            </a:extLst>
          </p:cNvPr>
          <p:cNvGrpSpPr/>
          <p:nvPr/>
        </p:nvGrpSpPr>
        <p:grpSpPr>
          <a:xfrm>
            <a:off x="7000155" y="4848625"/>
            <a:ext cx="1890272" cy="1490703"/>
            <a:chOff x="7000155" y="4848625"/>
            <a:chExt cx="1890272" cy="1490703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6B7B15E2-74E6-D565-B534-78150DA53D1A}"/>
                </a:ext>
              </a:extLst>
            </p:cNvPr>
            <p:cNvSpPr/>
            <p:nvPr/>
          </p:nvSpPr>
          <p:spPr>
            <a:xfrm>
              <a:off x="7000155" y="4848625"/>
              <a:ext cx="1821115" cy="149070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409BAE6A-A3CA-726F-536B-C650569C9D9A}"/>
                </a:ext>
              </a:extLst>
            </p:cNvPr>
            <p:cNvSpPr txBox="1"/>
            <p:nvPr/>
          </p:nvSpPr>
          <p:spPr>
            <a:xfrm>
              <a:off x="7645508" y="4931870"/>
              <a:ext cx="1121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Low Risk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C30F65F2-574C-8E58-BD57-96E4FA4E7CD0}"/>
                </a:ext>
              </a:extLst>
            </p:cNvPr>
            <p:cNvSpPr txBox="1"/>
            <p:nvPr/>
          </p:nvSpPr>
          <p:spPr>
            <a:xfrm>
              <a:off x="7637719" y="5345578"/>
              <a:ext cx="12527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Medium Risk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BC176E2-530D-55DB-BE38-FE32EF89B085}"/>
                </a:ext>
              </a:extLst>
            </p:cNvPr>
            <p:cNvSpPr txBox="1"/>
            <p:nvPr/>
          </p:nvSpPr>
          <p:spPr>
            <a:xfrm>
              <a:off x="7668455" y="5826348"/>
              <a:ext cx="11218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High Risk</a:t>
              </a: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B2563DA-F439-97C9-4BFC-BC4389C11FDB}"/>
                </a:ext>
              </a:extLst>
            </p:cNvPr>
            <p:cNvSpPr/>
            <p:nvPr/>
          </p:nvSpPr>
          <p:spPr>
            <a:xfrm>
              <a:off x="7230675" y="4992958"/>
              <a:ext cx="169049" cy="178397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1CF5AE89-4BF8-875B-FC5E-AECFC98FDD58}"/>
                </a:ext>
              </a:extLst>
            </p:cNvPr>
            <p:cNvSpPr/>
            <p:nvPr/>
          </p:nvSpPr>
          <p:spPr>
            <a:xfrm>
              <a:off x="7187877" y="5351599"/>
              <a:ext cx="254643" cy="27699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783B7893-CD9E-0657-A442-F29BDDFE2C45}"/>
                </a:ext>
              </a:extLst>
            </p:cNvPr>
            <p:cNvSpPr/>
            <p:nvPr/>
          </p:nvSpPr>
          <p:spPr>
            <a:xfrm>
              <a:off x="7107728" y="5780452"/>
              <a:ext cx="435857" cy="446059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矩形 98">
            <a:extLst>
              <a:ext uri="{FF2B5EF4-FFF2-40B4-BE49-F238E27FC236}">
                <a16:creationId xmlns:a16="http://schemas.microsoft.com/office/drawing/2014/main" id="{CBE63827-A0A2-1FC4-B3FF-D15FFBF7D718}"/>
              </a:ext>
            </a:extLst>
          </p:cNvPr>
          <p:cNvSpPr/>
          <p:nvPr/>
        </p:nvSpPr>
        <p:spPr>
          <a:xfrm>
            <a:off x="8610601" y="2563128"/>
            <a:ext cx="3340422" cy="89844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A106D8F-DDE6-CD0F-260E-40F3CF69EA9A}"/>
              </a:ext>
            </a:extLst>
          </p:cNvPr>
          <p:cNvSpPr/>
          <p:nvPr/>
        </p:nvSpPr>
        <p:spPr>
          <a:xfrm>
            <a:off x="8902051" y="2705310"/>
            <a:ext cx="248920" cy="23368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6693A096-685B-72FE-A8A5-FFB443DE5701}"/>
              </a:ext>
            </a:extLst>
          </p:cNvPr>
          <p:cNvSpPr/>
          <p:nvPr/>
        </p:nvSpPr>
        <p:spPr>
          <a:xfrm>
            <a:off x="8890427" y="3122995"/>
            <a:ext cx="248920" cy="2336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DC0010E-6C88-A95C-5A9A-68604DA15634}"/>
              </a:ext>
            </a:extLst>
          </p:cNvPr>
          <p:cNvSpPr txBox="1"/>
          <p:nvPr/>
        </p:nvSpPr>
        <p:spPr>
          <a:xfrm>
            <a:off x="9222518" y="2652873"/>
            <a:ext cx="160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Spatial Risk</a:t>
            </a:r>
            <a:endParaRPr lang="en-US" sz="1600" b="1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600F8034-68FF-475E-0B7E-C08ECD26BC41}"/>
              </a:ext>
            </a:extLst>
          </p:cNvPr>
          <p:cNvSpPr txBox="1"/>
          <p:nvPr/>
        </p:nvSpPr>
        <p:spPr>
          <a:xfrm>
            <a:off x="9210894" y="3043131"/>
            <a:ext cx="160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Temporal Risk</a:t>
            </a:r>
            <a:endParaRPr lang="en-US" sz="1600" b="1" dirty="0"/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974433E-D0A9-852D-277A-F89D32EF192B}"/>
              </a:ext>
            </a:extLst>
          </p:cNvPr>
          <p:cNvSpPr/>
          <p:nvPr/>
        </p:nvSpPr>
        <p:spPr>
          <a:xfrm>
            <a:off x="10993303" y="2904398"/>
            <a:ext cx="248920" cy="23368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E292420-6189-1D1F-96B9-CC0215ACCAF3}"/>
              </a:ext>
            </a:extLst>
          </p:cNvPr>
          <p:cNvSpPr txBox="1"/>
          <p:nvPr/>
        </p:nvSpPr>
        <p:spPr>
          <a:xfrm>
            <a:off x="11230547" y="2851353"/>
            <a:ext cx="696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etc.</a:t>
            </a:r>
            <a:endParaRPr lang="en-US" sz="1600" b="1" dirty="0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C38C85E2-8879-07E5-08B7-F7B826BE55F0}"/>
              </a:ext>
            </a:extLst>
          </p:cNvPr>
          <p:cNvGrpSpPr/>
          <p:nvPr/>
        </p:nvGrpSpPr>
        <p:grpSpPr>
          <a:xfrm>
            <a:off x="8946269" y="3609344"/>
            <a:ext cx="3057525" cy="2743200"/>
            <a:chOff x="8946269" y="3609344"/>
            <a:chExt cx="3057525" cy="2743200"/>
          </a:xfrm>
        </p:grpSpPr>
        <p:pic>
          <p:nvPicPr>
            <p:cNvPr id="114" name="图片 113" descr="图示&#10;&#10;AI 生成的内容可能不正确。">
              <a:extLst>
                <a:ext uri="{FF2B5EF4-FFF2-40B4-BE49-F238E27FC236}">
                  <a16:creationId xmlns:a16="http://schemas.microsoft.com/office/drawing/2014/main" id="{0A1AAD79-D7EC-D8FA-1CC5-5378020CD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6269" y="3609344"/>
              <a:ext cx="3057525" cy="2743200"/>
            </a:xfrm>
            <a:prstGeom prst="rect">
              <a:avLst/>
            </a:prstGeom>
          </p:spPr>
        </p:pic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AF181C4D-E1A5-7C21-FFE2-B3A445D8E824}"/>
                </a:ext>
              </a:extLst>
            </p:cNvPr>
            <p:cNvSpPr/>
            <p:nvPr/>
          </p:nvSpPr>
          <p:spPr>
            <a:xfrm>
              <a:off x="11733725" y="5889016"/>
              <a:ext cx="217297" cy="228930"/>
            </a:xfrm>
            <a:prstGeom prst="ellipse">
              <a:avLst/>
            </a:prstGeom>
            <a:solidFill>
              <a:srgbClr val="215F9A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35629D8A-E1EC-2F89-F47D-7067B05FE49A}"/>
                </a:ext>
              </a:extLst>
            </p:cNvPr>
            <p:cNvSpPr/>
            <p:nvPr/>
          </p:nvSpPr>
          <p:spPr>
            <a:xfrm>
              <a:off x="9543693" y="5735592"/>
              <a:ext cx="300271" cy="321859"/>
            </a:xfrm>
            <a:prstGeom prst="ellipse">
              <a:avLst/>
            </a:prstGeom>
            <a:solidFill>
              <a:srgbClr val="FFC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1E29D9AC-F24F-364A-12F8-E0A0A53B6168}"/>
                </a:ext>
              </a:extLst>
            </p:cNvPr>
            <p:cNvSpPr/>
            <p:nvPr/>
          </p:nvSpPr>
          <p:spPr>
            <a:xfrm>
              <a:off x="10842253" y="5980997"/>
              <a:ext cx="169049" cy="178397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F3976A95-C2F3-68D1-CFEB-503572527395}"/>
                </a:ext>
              </a:extLst>
            </p:cNvPr>
            <p:cNvSpPr/>
            <p:nvPr/>
          </p:nvSpPr>
          <p:spPr>
            <a:xfrm>
              <a:off x="10441047" y="5973060"/>
              <a:ext cx="169049" cy="17839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F03D0ED7-6E05-8B95-3B50-C5294C18B19A}"/>
                </a:ext>
              </a:extLst>
            </p:cNvPr>
            <p:cNvSpPr/>
            <p:nvPr/>
          </p:nvSpPr>
          <p:spPr>
            <a:xfrm>
              <a:off x="9174041" y="5848480"/>
              <a:ext cx="169049" cy="17839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75C5A576-C368-C425-9BC1-ED95E8F6A470}"/>
                </a:ext>
              </a:extLst>
            </p:cNvPr>
            <p:cNvSpPr/>
            <p:nvPr/>
          </p:nvSpPr>
          <p:spPr>
            <a:xfrm>
              <a:off x="10227812" y="3861088"/>
              <a:ext cx="311532" cy="298541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88458EDA-2156-19CD-FADF-AAB48090E53E}"/>
                </a:ext>
              </a:extLst>
            </p:cNvPr>
            <p:cNvSpPr/>
            <p:nvPr/>
          </p:nvSpPr>
          <p:spPr>
            <a:xfrm>
              <a:off x="9258565" y="4159629"/>
              <a:ext cx="435857" cy="446059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F2F851A7-D6CA-CBE5-A166-90D62A198BA5}"/>
                </a:ext>
              </a:extLst>
            </p:cNvPr>
            <p:cNvSpPr/>
            <p:nvPr/>
          </p:nvSpPr>
          <p:spPr>
            <a:xfrm>
              <a:off x="9326357" y="4710280"/>
              <a:ext cx="300271" cy="321860"/>
            </a:xfrm>
            <a:prstGeom prst="ellipse">
              <a:avLst/>
            </a:prstGeom>
            <a:solidFill>
              <a:srgbClr val="FFC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76B06F81-3A6B-78A5-8E8E-F48011C5152B}"/>
                </a:ext>
              </a:extLst>
            </p:cNvPr>
            <p:cNvSpPr/>
            <p:nvPr/>
          </p:nvSpPr>
          <p:spPr>
            <a:xfrm>
              <a:off x="11312694" y="3900656"/>
              <a:ext cx="421031" cy="446059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999B7CAA-B5EA-4172-F26D-EE9011BC92D0}"/>
                </a:ext>
              </a:extLst>
            </p:cNvPr>
            <p:cNvSpPr/>
            <p:nvPr/>
          </p:nvSpPr>
          <p:spPr>
            <a:xfrm>
              <a:off x="11757848" y="4165479"/>
              <a:ext cx="169049" cy="17839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EE2ED33B-7447-1540-57D0-36F383AD3134}"/>
                </a:ext>
              </a:extLst>
            </p:cNvPr>
            <p:cNvSpPr/>
            <p:nvPr/>
          </p:nvSpPr>
          <p:spPr>
            <a:xfrm>
              <a:off x="10560231" y="4831473"/>
              <a:ext cx="169049" cy="178397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0B48E98C-F650-40A6-E657-36967AD106AB}"/>
                </a:ext>
              </a:extLst>
            </p:cNvPr>
            <p:cNvSpPr/>
            <p:nvPr/>
          </p:nvSpPr>
          <p:spPr>
            <a:xfrm>
              <a:off x="10789674" y="3748214"/>
              <a:ext cx="417855" cy="414841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C53A081C-B844-B9E9-4CA3-9BE8EBC1A6C9}"/>
                </a:ext>
              </a:extLst>
            </p:cNvPr>
            <p:cNvSpPr/>
            <p:nvPr/>
          </p:nvSpPr>
          <p:spPr>
            <a:xfrm>
              <a:off x="10135624" y="5009870"/>
              <a:ext cx="422769" cy="399520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ACF91267-3131-E45A-EA23-B59A5169705F}"/>
                </a:ext>
              </a:extLst>
            </p:cNvPr>
            <p:cNvSpPr/>
            <p:nvPr/>
          </p:nvSpPr>
          <p:spPr>
            <a:xfrm>
              <a:off x="11523209" y="4742274"/>
              <a:ext cx="300271" cy="32186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183BC057-4653-C762-A8CB-6B7A26C20D0A}"/>
                </a:ext>
              </a:extLst>
            </p:cNvPr>
            <p:cNvSpPr/>
            <p:nvPr/>
          </p:nvSpPr>
          <p:spPr>
            <a:xfrm>
              <a:off x="11321428" y="5082156"/>
              <a:ext cx="169049" cy="178397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BDA44D35-D8B8-3A9C-8C6A-A005D91D8272}"/>
                </a:ext>
              </a:extLst>
            </p:cNvPr>
            <p:cNvSpPr/>
            <p:nvPr/>
          </p:nvSpPr>
          <p:spPr>
            <a:xfrm>
              <a:off x="10918591" y="4563312"/>
              <a:ext cx="244421" cy="27698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5BFE9E6B-09F7-7EA2-7797-2F583FD4D35A}"/>
                </a:ext>
              </a:extLst>
            </p:cNvPr>
            <p:cNvSpPr/>
            <p:nvPr/>
          </p:nvSpPr>
          <p:spPr>
            <a:xfrm>
              <a:off x="10926777" y="5237202"/>
              <a:ext cx="244421" cy="276980"/>
            </a:xfrm>
            <a:prstGeom prst="ellips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833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B8530-3537-F9B9-2799-13805DB1E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35369CFC-282C-9595-A185-9782DE44E38F}"/>
              </a:ext>
            </a:extLst>
          </p:cNvPr>
          <p:cNvGrpSpPr/>
          <p:nvPr/>
        </p:nvGrpSpPr>
        <p:grpSpPr>
          <a:xfrm>
            <a:off x="8306440" y="1462087"/>
            <a:ext cx="3703706" cy="3763056"/>
            <a:chOff x="6896752" y="2855070"/>
            <a:chExt cx="3719072" cy="337512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A8DD8A6-C42F-C978-0358-964E0E8E51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63" t="7926" r="6000" b="6889"/>
            <a:stretch>
              <a:fillRect/>
            </a:stretch>
          </p:blipFill>
          <p:spPr bwMode="auto">
            <a:xfrm>
              <a:off x="7143480" y="2855070"/>
              <a:ext cx="3225617" cy="30860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AEA6E34-B29C-5CC1-88C3-84E071EA3A55}"/>
                </a:ext>
              </a:extLst>
            </p:cNvPr>
            <p:cNvSpPr txBox="1"/>
            <p:nvPr/>
          </p:nvSpPr>
          <p:spPr>
            <a:xfrm>
              <a:off x="6896752" y="5941142"/>
              <a:ext cx="3719072" cy="289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Fig. Sensor Coordinate System and Axes.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A6C973A-CC10-094F-B006-5CABB13E0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4.1 Sensing Overview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9D7F1B-10BB-14AC-FA04-8BD2A7B1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13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162A2C-7EAD-E28B-C849-49F6FDF4CE2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1FFB51E9-5247-6483-92FC-161CCCC3B6A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9CD3A990-6343-8862-5EFD-8EDD86C3983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5576D584-5F9A-D377-3B94-B8427D9BFCD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003A055-8736-DFD4-3D8D-ED3701DDAA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53331"/>
                <a:ext cx="11171945" cy="54681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b="1" dirty="0"/>
                  <a:t>4.1.1</a:t>
                </a:r>
                <a:r>
                  <a:rPr lang="en-US" b="1" noProof="0" dirty="0"/>
                  <a:t> Fall-related motion sensing (wearable)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noProof="0" dirty="0"/>
                  <a:t> </a:t>
                </a:r>
                <a:r>
                  <a:rPr lang="en-US" b="1" noProof="0" dirty="0"/>
                  <a:t>Primary signal source (wrist-worn)</a:t>
                </a:r>
              </a:p>
              <a:p>
                <a:pPr lvl="2"/>
                <a:r>
                  <a:rPr lang="en-US" noProof="0" dirty="0"/>
                  <a:t>A</a:t>
                </a:r>
                <a:r>
                  <a:rPr lang="en-US" altLang="zh-CN" noProof="0" dirty="0"/>
                  <a:t>ccelerometer</a:t>
                </a:r>
                <a:r>
                  <a:rPr lang="en-US" altLang="zh-CN" dirty="0"/>
                  <a:t>: 3-axis acceleration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en-US" noProof="0" dirty="0"/>
                  <a:t>Gyroscope: 3-axis angular velocity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noProof="0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dirty="0"/>
                  <a:t> </a:t>
                </a:r>
                <a:r>
                  <a:rPr lang="en-US" altLang="zh-CN" b="1" dirty="0"/>
                  <a:t>Effectiveness</a:t>
                </a:r>
              </a:p>
              <a:p>
                <a:pPr lvl="2"/>
                <a:r>
                  <a:rPr lang="en-US" noProof="0" dirty="0"/>
                  <a:t>Acceleration captures impact / sudden change.</a:t>
                </a:r>
              </a:p>
              <a:p>
                <a:pPr lvl="2"/>
                <a:r>
                  <a:rPr lang="en-US" noProof="0" dirty="0"/>
                  <a:t>Gyroscope captures rotation and posture transitions.</a:t>
                </a:r>
              </a:p>
              <a:p>
                <a:pPr lvl="2"/>
                <a:r>
                  <a:rPr lang="en-US" noProof="0" dirty="0"/>
                  <a:t>Wrist-worn devices provide practical and effective signaling.</a:t>
                </a:r>
                <a:endParaRPr lang="en-US" dirty="0"/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en-US" altLang="zh-CN" b="1" dirty="0"/>
                  <a:t> Feasibility</a:t>
                </a:r>
              </a:p>
              <a:p>
                <a:pPr lvl="2"/>
                <a:r>
                  <a:rPr lang="en-US" altLang="zh-CN" dirty="0"/>
                  <a:t>Each wearable device captures motion data independently.</a:t>
                </a:r>
              </a:p>
              <a:p>
                <a:pPr lvl="2"/>
                <a:r>
                  <a:rPr lang="en-US" altLang="zh-CN" dirty="0"/>
                  <a:t>Typical wearable IMU</a:t>
                </a:r>
                <a:r>
                  <a:rPr lang="zh-CN" altLang="en-US" baseline="300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*</a:t>
                </a:r>
                <a:r>
                  <a:rPr lang="en-US" altLang="zh-CN" dirty="0"/>
                  <a:t> streams are suitable for continuous monitoring.</a:t>
                </a:r>
              </a:p>
              <a:p>
                <a:pPr lvl="2"/>
                <a:r>
                  <a:rPr lang="en-US" altLang="zh-CN" dirty="0"/>
                  <a:t>The resulting data follow a unified format suitable for common processing pipelines.</a:t>
                </a:r>
                <a:endParaRPr lang="en-US" noProof="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B003A055-8736-DFD4-3D8D-ED3701DDA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53331"/>
                <a:ext cx="11171945" cy="5468143"/>
              </a:xfrm>
              <a:blipFill>
                <a:blip r:embed="rId7"/>
                <a:stretch>
                  <a:fillRect l="-1091" t="-2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51786BCB-A10B-E184-0186-351C069BBCA9}"/>
              </a:ext>
            </a:extLst>
          </p:cNvPr>
          <p:cNvSpPr txBox="1"/>
          <p:nvPr/>
        </p:nvSpPr>
        <p:spPr>
          <a:xfrm>
            <a:off x="838197" y="6611779"/>
            <a:ext cx="3614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Figure Source: IDEW, Code: Internet of Things – Accelerometer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30320F-F48F-0108-5386-30052F975FB6}"/>
              </a:ext>
            </a:extLst>
          </p:cNvPr>
          <p:cNvSpPr txBox="1"/>
          <p:nvPr/>
        </p:nvSpPr>
        <p:spPr>
          <a:xfrm>
            <a:off x="838198" y="6369635"/>
            <a:ext cx="5257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IMU 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Inertial Measurement Unit </a:t>
            </a:r>
            <a:r>
              <a:rPr lang="zh-CN" alt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惯性测量单元</a:t>
            </a:r>
            <a:endParaRPr lang="en-US" sz="1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14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1D75-8C1E-EA6C-23D8-1F36AA8BA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3024217B-7AF4-65CB-E2E1-CD193B089EA6}"/>
              </a:ext>
            </a:extLst>
          </p:cNvPr>
          <p:cNvGrpSpPr/>
          <p:nvPr/>
        </p:nvGrpSpPr>
        <p:grpSpPr>
          <a:xfrm>
            <a:off x="8713693" y="1116805"/>
            <a:ext cx="3296451" cy="4156793"/>
            <a:chOff x="8662189" y="1075625"/>
            <a:chExt cx="3347956" cy="4197974"/>
          </a:xfrm>
        </p:grpSpPr>
        <p:pic>
          <p:nvPicPr>
            <p:cNvPr id="15" name="图片 14" descr="图示, 工程绘图&#10;&#10;AI 生成的内容可能不正确。">
              <a:extLst>
                <a:ext uri="{FF2B5EF4-FFF2-40B4-BE49-F238E27FC236}">
                  <a16:creationId xmlns:a16="http://schemas.microsoft.com/office/drawing/2014/main" id="{009D62FC-F79E-E484-1F02-CB88FDDA3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42" t="2376"/>
            <a:stretch>
              <a:fillRect/>
            </a:stretch>
          </p:blipFill>
          <p:spPr>
            <a:xfrm>
              <a:off x="9074845" y="1075625"/>
              <a:ext cx="2935300" cy="3563239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ECB11C1-C511-F6A4-405A-07CC43B7718D}"/>
                </a:ext>
              </a:extLst>
            </p:cNvPr>
            <p:cNvSpPr txBox="1"/>
            <p:nvPr/>
          </p:nvSpPr>
          <p:spPr>
            <a:xfrm>
              <a:off x="8662189" y="4748034"/>
              <a:ext cx="3347955" cy="525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Fig. Combined BLE and Wi-Fi fingerprint </a:t>
              </a:r>
            </a:p>
            <a:p>
              <a:pPr algn="ctr"/>
              <a:r>
                <a:rPr lang="en-US" sz="1400" dirty="0"/>
                <a:t>based indoor positioning.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B8F5DBE3-3441-97AA-765F-9E321A05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4.1 Sensing Overview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C2C553-D536-3046-2CB4-B84F53C4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14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51DA3FE-1AF2-10B7-787A-EC89A82E049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6C06B397-4D74-1F5E-8ACC-ADBEC383DC4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93277954-37BC-3B8C-AE66-85411D972A3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59D9E32E-12B1-AE34-5F5B-E0D3F9AB6BF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5E62A89-A8F6-46D7-D45D-21060AAE9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2"/>
            <a:ext cx="10687850" cy="546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noProof="0" dirty="0"/>
              <a:t>4.1.2</a:t>
            </a:r>
            <a:r>
              <a:rPr lang="en-US" b="1" noProof="0" dirty="0"/>
              <a:t> Indoor localization sensing (Event-driven)</a:t>
            </a: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en-US" noProof="0" dirty="0"/>
              <a:t> </a:t>
            </a:r>
            <a:r>
              <a:rPr lang="en-US" b="1" noProof="0" dirty="0"/>
              <a:t>Primary signal source (environment-based)</a:t>
            </a:r>
          </a:p>
          <a:p>
            <a:pPr lvl="2"/>
            <a:r>
              <a:rPr lang="en-US" dirty="0"/>
              <a:t>BLE-based signals: RSSI</a:t>
            </a:r>
            <a:r>
              <a:rPr lang="en-US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*</a:t>
            </a:r>
          </a:p>
          <a:p>
            <a:pPr lvl="2"/>
            <a:r>
              <a:rPr lang="en-US" dirty="0"/>
              <a:t>Wi-Fi–based signals: RSSI from APs</a:t>
            </a:r>
            <a:r>
              <a:rPr lang="en-US" baseline="300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*</a:t>
            </a:r>
            <a:endParaRPr lang="en-US" baseline="300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 </a:t>
            </a:r>
            <a:r>
              <a:rPr lang="en-US" altLang="zh-CN" b="1" dirty="0"/>
              <a:t>Effectiveness</a:t>
            </a:r>
          </a:p>
          <a:p>
            <a:pPr lvl="2"/>
            <a:r>
              <a:rPr lang="en-US" noProof="0" dirty="0"/>
              <a:t>BLE signals enable zone- / room-level localization (range 1-5 m).</a:t>
            </a:r>
          </a:p>
          <a:p>
            <a:pPr lvl="2"/>
            <a:r>
              <a:rPr lang="en-US" noProof="0" dirty="0"/>
              <a:t>Wi-Fi signals support room-level localization (range 5-10 m).</a:t>
            </a:r>
          </a:p>
          <a:p>
            <a:pPr lvl="2"/>
            <a:r>
              <a:rPr lang="en-US" noProof="0" dirty="0"/>
              <a:t>Event-driven sensing reduces unnecessary data acquisition. </a:t>
            </a:r>
            <a:endParaRPr lang="en-US" dirty="0"/>
          </a:p>
          <a:p>
            <a:pPr lvl="1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en-US" altLang="zh-CN" b="1" dirty="0"/>
              <a:t> Feasibility</a:t>
            </a:r>
          </a:p>
          <a:p>
            <a:pPr lvl="2"/>
            <a:r>
              <a:rPr lang="en-US" altLang="zh-CN" dirty="0"/>
              <a:t>BLE beacons and Wi-Fi infrastructure are widely available in indoor environments.</a:t>
            </a:r>
          </a:p>
          <a:p>
            <a:pPr lvl="2"/>
            <a:r>
              <a:rPr lang="en-US" altLang="zh-CN" dirty="0"/>
              <a:t>Signal acquisition is lightweight and compatible with wearable devices.</a:t>
            </a:r>
          </a:p>
          <a:p>
            <a:pPr lvl="2"/>
            <a:r>
              <a:rPr lang="en-US" altLang="zh-CN" dirty="0"/>
              <a:t>Room-level / Zone-level localization outputs can adopt a unified representation.</a:t>
            </a:r>
            <a:endParaRPr lang="en-US" noProof="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AB57FA-1354-7976-89C1-CEFEAB3CB94D}"/>
              </a:ext>
            </a:extLst>
          </p:cNvPr>
          <p:cNvSpPr txBox="1"/>
          <p:nvPr/>
        </p:nvSpPr>
        <p:spPr>
          <a:xfrm>
            <a:off x="838198" y="6369635"/>
            <a:ext cx="55011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RSSI 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Received </a:t>
            </a:r>
            <a:r>
              <a:rPr lang="en-US" altLang="zh-CN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Signal 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Strength Indicator </a:t>
            </a:r>
            <a:r>
              <a:rPr lang="zh-CN" alt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接收信号强度指示</a:t>
            </a:r>
            <a:endParaRPr lang="en-US" sz="16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D66E9A-1045-EF43-65D5-7E2D60BBF804}"/>
              </a:ext>
            </a:extLst>
          </p:cNvPr>
          <p:cNvSpPr txBox="1"/>
          <p:nvPr/>
        </p:nvSpPr>
        <p:spPr>
          <a:xfrm>
            <a:off x="6727686" y="6369635"/>
            <a:ext cx="1909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APs 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Access Points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219337-1796-F8CC-6418-2A4168A334F5}"/>
              </a:ext>
            </a:extLst>
          </p:cNvPr>
          <p:cNvSpPr txBox="1"/>
          <p:nvPr/>
        </p:nvSpPr>
        <p:spPr>
          <a:xfrm>
            <a:off x="838199" y="6611779"/>
            <a:ext cx="86976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igure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Source: L. Kanaris et al., “Fusing Bluetooth Beacon Data with Wi-Fi Radio maps for Improved Indoor Localization,” Sensors, 2017 (CC BY 4.0).</a:t>
            </a:r>
          </a:p>
        </p:txBody>
      </p:sp>
    </p:spTree>
    <p:extLst>
      <p:ext uri="{BB962C8B-B14F-4D97-AF65-F5344CB8AC3E}">
        <p14:creationId xmlns:p14="http://schemas.microsoft.com/office/powerpoint/2010/main" val="18568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8879-B932-AFF3-E4D0-0383EE26D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6B684-CC28-B952-14D8-8A655E69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4.2 Data Overview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DB3D5-45B6-FA39-02FD-DE6C09A49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15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C01D41C-DFEA-A1B6-8468-B3E99678C96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3944ECCD-5639-8AF1-36F8-0B8C654BE78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520E4C20-0AB5-6B95-2A29-EFEC08A6EE8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DAB925B5-84EE-D6BA-0E59-CD6A1D32263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7A17B26-3620-C710-9510-C9CB72C9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5754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4.2.1</a:t>
            </a:r>
            <a:r>
              <a:rPr lang="en-US" b="1" noProof="0" dirty="0"/>
              <a:t> Motion Data for Fall Detection: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CF3CBB0-A5EE-153E-7591-AB37617EFA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896039"/>
                  </p:ext>
                </p:extLst>
              </p:nvPr>
            </p:nvGraphicFramePr>
            <p:xfrm>
              <a:off x="838198" y="1828800"/>
              <a:ext cx="10515600" cy="32004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74860582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17774716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84322038"/>
                        </a:ext>
                      </a:extLst>
                    </a:gridCol>
                  </a:tblGrid>
                  <a:tr h="6870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</a:rPr>
                            <a:t>Acceleration vs. 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</a:rPr>
                            <a:t>Angular Velocity (IMU)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Acceleration </a:t>
                          </a:r>
                          <a:endParaRPr lang="en-US" altLang="zh-CN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altLang="zh-CN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3C82A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Angular Velocity </a:t>
                          </a:r>
                          <a:endParaRPr lang="en-US" altLang="zh-CN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3C82A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9591398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Physical Meaning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acceleration + Gravity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Rotational motion rate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01679384"/>
                      </a:ext>
                    </a:extLst>
                  </a:tr>
                  <a:tr h="655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Magnitude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Sup>
                                      <m:sSub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72221234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Static State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760576456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Orientation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04661858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Impact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 (spikes at collision)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 ~ Moderate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978752083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Posture Change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 (indirect)</a:t>
                          </a:r>
                        </a:p>
                      </a:txBody>
                      <a:tcPr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2118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ECF3CBB0-A5EE-153E-7591-AB37617EFA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896039"/>
                  </p:ext>
                </p:extLst>
              </p:nvPr>
            </p:nvGraphicFramePr>
            <p:xfrm>
              <a:off x="838198" y="1828800"/>
              <a:ext cx="10515600" cy="3200401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748605824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177747168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84322038"/>
                        </a:ext>
                      </a:extLst>
                    </a:gridCol>
                  </a:tblGrid>
                  <a:tr h="6870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</a:rPr>
                            <a:t>Acceleration vs. </a:t>
                          </a:r>
                        </a:p>
                        <a:p>
                          <a:pPr algn="ctr"/>
                          <a:r>
                            <a:rPr lang="en-US" dirty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</a:rPr>
                            <a:t>Angular Velocity (IMU)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100000" t="-4425" r="-100521" b="-3787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6"/>
                          <a:stretch>
                            <a:fillRect l="-200348" t="-4425" r="-696" b="-3787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9591398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Physical Meaning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Linear acceleration + Gravity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Rotational motion rate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01679384"/>
                      </a:ext>
                    </a:extLst>
                  </a:tr>
                  <a:tr h="6550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Magnitude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65741" r="-100521" b="-239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00348" t="-165741" r="-696" b="-239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2221234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Static State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470492" r="-10052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6"/>
                          <a:stretch>
                            <a:fillRect l="-200348" t="-470492" r="-696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60576456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Orientation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604661858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Impact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 (spikes at collision)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 ~ Moderate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2978752083"/>
                      </a:ext>
                    </a:extLst>
                  </a:tr>
                  <a:tr h="371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Posture Change Sensitivity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C68A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Low (indirect)</a:t>
                          </a:r>
                        </a:p>
                      </a:txBody>
                      <a:tcPr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High</a:t>
                          </a:r>
                        </a:p>
                      </a:txBody>
                      <a:tcPr>
                        <a:lnR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6350" cap="flat" cmpd="sng" algn="ctr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3211856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CD7E6C12-8506-CD4C-7C51-F7A440CCDD2F}"/>
              </a:ext>
            </a:extLst>
          </p:cNvPr>
          <p:cNvSpPr txBox="1">
            <a:spLocks/>
          </p:cNvSpPr>
          <p:nvPr/>
        </p:nvSpPr>
        <p:spPr>
          <a:xfrm>
            <a:off x="838201" y="5029201"/>
            <a:ext cx="10687850" cy="169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 </a:t>
            </a:r>
            <a:r>
              <a:rPr lang="en-US" altLang="zh-CN" b="1" dirty="0"/>
              <a:t>Complementarity for fall detection</a:t>
            </a:r>
          </a:p>
          <a:p>
            <a:pPr lvl="2"/>
            <a:r>
              <a:rPr lang="en-US" dirty="0"/>
              <a:t>Acceleration → impact detection</a:t>
            </a:r>
          </a:p>
          <a:p>
            <a:pPr lvl="2"/>
            <a:r>
              <a:rPr lang="en-US" dirty="0"/>
              <a:t>Angular velocity → posture change</a:t>
            </a:r>
          </a:p>
          <a:p>
            <a:pPr lvl="2"/>
            <a:r>
              <a:rPr lang="en-US" dirty="0"/>
              <a:t>Combined patterns → robust fall characterization</a:t>
            </a:r>
          </a:p>
        </p:txBody>
      </p:sp>
    </p:spTree>
    <p:extLst>
      <p:ext uri="{BB962C8B-B14F-4D97-AF65-F5344CB8AC3E}">
        <p14:creationId xmlns:p14="http://schemas.microsoft.com/office/powerpoint/2010/main" val="799893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B482C-C8D9-9657-0A33-C6EFCB72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1AD88-B540-479F-8709-7B8FDEF8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4.2 Data Overview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CCBEA-0E55-2BAD-CF19-4AE7F31E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16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281EC5-4AAE-17A9-E3FB-AEC121D7086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451F2894-3A9E-EF82-3C29-7E2AE9D5BAB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335E1D76-4BF7-3EA8-E6D3-4FF0C42BD98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82F2EB26-8EA7-CA6F-CFDA-00719BE675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897996-8A57-AAC5-1FA7-09369F8D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5754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noProof="0" dirty="0"/>
              <a:t>4.2.2</a:t>
            </a:r>
            <a:r>
              <a:rPr lang="en-US" b="1" noProof="0" dirty="0"/>
              <a:t> I</a:t>
            </a:r>
            <a:r>
              <a:rPr lang="en-US" altLang="zh-CN" b="1" noProof="0" dirty="0"/>
              <a:t>ndoor </a:t>
            </a:r>
            <a:r>
              <a:rPr lang="en-US" b="1" noProof="0" dirty="0"/>
              <a:t>Localization Signals: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B670FD2-FF98-6B15-500C-BBA8BF11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949411"/>
              </p:ext>
            </p:extLst>
          </p:nvPr>
        </p:nvGraphicFramePr>
        <p:xfrm>
          <a:off x="838198" y="1828800"/>
          <a:ext cx="10515600" cy="3200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486058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777471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432203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BLE vs. Wi-Fi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BLE RSSI</a:t>
                      </a:r>
                      <a:endParaRPr lang="en-US" altLang="zh-CN" i="1" dirty="0">
                        <a:latin typeface="Cambria Math" panose="02040503050406030204" pitchFamily="18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C82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Wi-Fi RSSI</a:t>
                      </a:r>
                      <a:endParaRPr lang="en-US" altLang="zh-CN" i="1" dirty="0">
                        <a:latin typeface="Cambria Math" panose="02040503050406030204" pitchFamily="18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C82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591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 Meaning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Proximity to beacon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Signal strength from APs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0167938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Battery Lifetime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Moderate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722212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Sensitivity to Body Blocking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05764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Sensitivity to Multipath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~ 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46618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Event-time Behavior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 RSSI dominance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RSSI vector pattern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787520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Infrastructure Density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68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(dense beacons)</a:t>
                      </a:r>
                    </a:p>
                  </a:txBody>
                  <a:tcPr>
                    <a:lnB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(sparse APs)</a:t>
                      </a:r>
                    </a:p>
                  </a:txBody>
                  <a:tcPr>
                    <a:lnR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2118563"/>
                  </a:ext>
                </a:extLst>
              </a:tr>
            </a:tbl>
          </a:graphicData>
        </a:graphic>
      </p:graphicFrame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D1D903F-CEB4-A3C5-D86B-9544A906C623}"/>
              </a:ext>
            </a:extLst>
          </p:cNvPr>
          <p:cNvSpPr txBox="1">
            <a:spLocks/>
          </p:cNvSpPr>
          <p:nvPr/>
        </p:nvSpPr>
        <p:spPr>
          <a:xfrm>
            <a:off x="838201" y="5029201"/>
            <a:ext cx="10687850" cy="169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60000"/>
              </a:lnSpc>
              <a:buFont typeface="Wingdings" panose="05000000000000000000" pitchFamily="2" charset="2"/>
              <a:buChar char="l"/>
            </a:pPr>
            <a:r>
              <a:rPr lang="en-US" altLang="zh-CN" dirty="0"/>
              <a:t> </a:t>
            </a:r>
            <a:r>
              <a:rPr lang="en-US" altLang="zh-CN" b="1" dirty="0"/>
              <a:t>Complementarity for indoor localization</a:t>
            </a:r>
          </a:p>
          <a:p>
            <a:pPr lvl="2"/>
            <a:r>
              <a:rPr lang="en-US" dirty="0"/>
              <a:t>BLE → fine-grained local proximity</a:t>
            </a:r>
          </a:p>
          <a:p>
            <a:pPr lvl="2"/>
            <a:r>
              <a:rPr lang="en-US" dirty="0"/>
              <a:t>Wi-Fi → stable spatial context</a:t>
            </a:r>
          </a:p>
          <a:p>
            <a:pPr lvl="2"/>
            <a:r>
              <a:rPr lang="en-US" dirty="0"/>
              <a:t>Combined patterns → improves robustness</a:t>
            </a:r>
          </a:p>
        </p:txBody>
      </p:sp>
    </p:spTree>
    <p:extLst>
      <p:ext uri="{BB962C8B-B14F-4D97-AF65-F5344CB8AC3E}">
        <p14:creationId xmlns:p14="http://schemas.microsoft.com/office/powerpoint/2010/main" val="1483243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88FC2-78F9-71BD-3001-5670B4E0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0BF45-4259-5B6E-3860-C3543391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5 Expected Outcomes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2536-A03F-8325-22A2-3A7B430A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17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D0F37A-6816-A9F2-4F45-20C5C54E60A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3B68466-5ACD-7BA2-4634-F7B06BB4DE5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B6551861-00F9-2F33-444C-74F829C452A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76DC9CB3-45D1-42E3-4821-C3FD7161E4B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AD067-FC77-9C29-7E27-2AC25F7C3316}"/>
              </a:ext>
            </a:extLst>
          </p:cNvPr>
          <p:cNvSpPr txBox="1">
            <a:spLocks/>
          </p:cNvSpPr>
          <p:nvPr/>
        </p:nvSpPr>
        <p:spPr>
          <a:xfrm>
            <a:off x="6230721" y="1253330"/>
            <a:ext cx="5123079" cy="208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3B0E48-49D7-4CB5-D3C9-17DEBE3EC8AC}"/>
              </a:ext>
            </a:extLst>
          </p:cNvPr>
          <p:cNvSpPr/>
          <p:nvPr/>
        </p:nvSpPr>
        <p:spPr>
          <a:xfrm>
            <a:off x="838199" y="1303075"/>
            <a:ext cx="4525256" cy="2137852"/>
          </a:xfrm>
          <a:custGeom>
            <a:avLst/>
            <a:gdLst>
              <a:gd name="csX0" fmla="*/ 0 w 4525256"/>
              <a:gd name="csY0" fmla="*/ 0 h 2137852"/>
              <a:gd name="csX1" fmla="*/ 691718 w 4525256"/>
              <a:gd name="csY1" fmla="*/ 0 h 2137852"/>
              <a:gd name="csX2" fmla="*/ 1428688 w 4525256"/>
              <a:gd name="csY2" fmla="*/ 0 h 2137852"/>
              <a:gd name="csX3" fmla="*/ 2075153 w 4525256"/>
              <a:gd name="csY3" fmla="*/ 0 h 2137852"/>
              <a:gd name="csX4" fmla="*/ 2721618 w 4525256"/>
              <a:gd name="csY4" fmla="*/ 0 h 2137852"/>
              <a:gd name="csX5" fmla="*/ 3322831 w 4525256"/>
              <a:gd name="csY5" fmla="*/ 0 h 2137852"/>
              <a:gd name="csX6" fmla="*/ 3924043 w 4525256"/>
              <a:gd name="csY6" fmla="*/ 0 h 2137852"/>
              <a:gd name="csX7" fmla="*/ 4525256 w 4525256"/>
              <a:gd name="csY7" fmla="*/ 0 h 2137852"/>
              <a:gd name="csX8" fmla="*/ 4525256 w 4525256"/>
              <a:gd name="csY8" fmla="*/ 491706 h 2137852"/>
              <a:gd name="csX9" fmla="*/ 4525256 w 4525256"/>
              <a:gd name="csY9" fmla="*/ 983412 h 2137852"/>
              <a:gd name="csX10" fmla="*/ 4525256 w 4525256"/>
              <a:gd name="csY10" fmla="*/ 1517875 h 2137852"/>
              <a:gd name="csX11" fmla="*/ 4525256 w 4525256"/>
              <a:gd name="csY11" fmla="*/ 2137852 h 2137852"/>
              <a:gd name="csX12" fmla="*/ 3788286 w 4525256"/>
              <a:gd name="csY12" fmla="*/ 2137852 h 2137852"/>
              <a:gd name="csX13" fmla="*/ 3277578 w 4525256"/>
              <a:gd name="csY13" fmla="*/ 2137852 h 2137852"/>
              <a:gd name="csX14" fmla="*/ 2766871 w 4525256"/>
              <a:gd name="csY14" fmla="*/ 2137852 h 2137852"/>
              <a:gd name="csX15" fmla="*/ 2165658 w 4525256"/>
              <a:gd name="csY15" fmla="*/ 2137852 h 2137852"/>
              <a:gd name="csX16" fmla="*/ 1473941 w 4525256"/>
              <a:gd name="csY16" fmla="*/ 2137852 h 2137852"/>
              <a:gd name="csX17" fmla="*/ 963233 w 4525256"/>
              <a:gd name="csY17" fmla="*/ 2137852 h 2137852"/>
              <a:gd name="csX18" fmla="*/ 0 w 4525256"/>
              <a:gd name="csY18" fmla="*/ 2137852 h 2137852"/>
              <a:gd name="csX19" fmla="*/ 0 w 4525256"/>
              <a:gd name="csY19" fmla="*/ 1646146 h 2137852"/>
              <a:gd name="csX20" fmla="*/ 0 w 4525256"/>
              <a:gd name="csY20" fmla="*/ 1154440 h 2137852"/>
              <a:gd name="csX21" fmla="*/ 0 w 4525256"/>
              <a:gd name="csY21" fmla="*/ 598599 h 2137852"/>
              <a:gd name="csX22" fmla="*/ 0 w 4525256"/>
              <a:gd name="csY22" fmla="*/ 0 h 21378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525256" h="2137852" fill="none" extrusionOk="0">
                <a:moveTo>
                  <a:pt x="0" y="0"/>
                </a:moveTo>
                <a:cubicBezTo>
                  <a:pt x="336538" y="29491"/>
                  <a:pt x="404891" y="16072"/>
                  <a:pt x="691718" y="0"/>
                </a:cubicBezTo>
                <a:cubicBezTo>
                  <a:pt x="978545" y="-16072"/>
                  <a:pt x="1202573" y="19738"/>
                  <a:pt x="1428688" y="0"/>
                </a:cubicBezTo>
                <a:cubicBezTo>
                  <a:pt x="1654803" y="-19738"/>
                  <a:pt x="1753232" y="-10688"/>
                  <a:pt x="2075153" y="0"/>
                </a:cubicBezTo>
                <a:cubicBezTo>
                  <a:pt x="2397075" y="10688"/>
                  <a:pt x="2436327" y="-190"/>
                  <a:pt x="2721618" y="0"/>
                </a:cubicBezTo>
                <a:cubicBezTo>
                  <a:pt x="3006909" y="190"/>
                  <a:pt x="3064017" y="14239"/>
                  <a:pt x="3322831" y="0"/>
                </a:cubicBezTo>
                <a:cubicBezTo>
                  <a:pt x="3581645" y="-14239"/>
                  <a:pt x="3629444" y="-5828"/>
                  <a:pt x="3924043" y="0"/>
                </a:cubicBezTo>
                <a:cubicBezTo>
                  <a:pt x="4218642" y="5828"/>
                  <a:pt x="4345736" y="12763"/>
                  <a:pt x="4525256" y="0"/>
                </a:cubicBezTo>
                <a:cubicBezTo>
                  <a:pt x="4506066" y="239675"/>
                  <a:pt x="4529445" y="341773"/>
                  <a:pt x="4525256" y="491706"/>
                </a:cubicBezTo>
                <a:cubicBezTo>
                  <a:pt x="4521067" y="641639"/>
                  <a:pt x="4507226" y="758735"/>
                  <a:pt x="4525256" y="983412"/>
                </a:cubicBezTo>
                <a:cubicBezTo>
                  <a:pt x="4543286" y="1208089"/>
                  <a:pt x="4504631" y="1304411"/>
                  <a:pt x="4525256" y="1517875"/>
                </a:cubicBezTo>
                <a:cubicBezTo>
                  <a:pt x="4545881" y="1731339"/>
                  <a:pt x="4508155" y="2001635"/>
                  <a:pt x="4525256" y="2137852"/>
                </a:cubicBezTo>
                <a:cubicBezTo>
                  <a:pt x="4339484" y="2140601"/>
                  <a:pt x="4035670" y="2173211"/>
                  <a:pt x="3788286" y="2137852"/>
                </a:cubicBezTo>
                <a:cubicBezTo>
                  <a:pt x="3540902" y="2102494"/>
                  <a:pt x="3474442" y="2145249"/>
                  <a:pt x="3277578" y="2137852"/>
                </a:cubicBezTo>
                <a:cubicBezTo>
                  <a:pt x="3080714" y="2130455"/>
                  <a:pt x="2893647" y="2120774"/>
                  <a:pt x="2766871" y="2137852"/>
                </a:cubicBezTo>
                <a:cubicBezTo>
                  <a:pt x="2640095" y="2154930"/>
                  <a:pt x="2308412" y="2142155"/>
                  <a:pt x="2165658" y="2137852"/>
                </a:cubicBezTo>
                <a:cubicBezTo>
                  <a:pt x="2022904" y="2133549"/>
                  <a:pt x="1805805" y="2157460"/>
                  <a:pt x="1473941" y="2137852"/>
                </a:cubicBezTo>
                <a:cubicBezTo>
                  <a:pt x="1142077" y="2118244"/>
                  <a:pt x="1124759" y="2162320"/>
                  <a:pt x="963233" y="2137852"/>
                </a:cubicBezTo>
                <a:cubicBezTo>
                  <a:pt x="801707" y="2113384"/>
                  <a:pt x="265195" y="2128143"/>
                  <a:pt x="0" y="2137852"/>
                </a:cubicBezTo>
                <a:cubicBezTo>
                  <a:pt x="-20382" y="1896420"/>
                  <a:pt x="-23349" y="1749143"/>
                  <a:pt x="0" y="1646146"/>
                </a:cubicBezTo>
                <a:cubicBezTo>
                  <a:pt x="23349" y="1543149"/>
                  <a:pt x="-22861" y="1360607"/>
                  <a:pt x="0" y="1154440"/>
                </a:cubicBezTo>
                <a:cubicBezTo>
                  <a:pt x="22861" y="948273"/>
                  <a:pt x="12971" y="823983"/>
                  <a:pt x="0" y="598599"/>
                </a:cubicBezTo>
                <a:cubicBezTo>
                  <a:pt x="-12971" y="373215"/>
                  <a:pt x="-6453" y="239459"/>
                  <a:pt x="0" y="0"/>
                </a:cubicBezTo>
                <a:close/>
              </a:path>
              <a:path w="4525256" h="2137852" stroke="0" extrusionOk="0">
                <a:moveTo>
                  <a:pt x="0" y="0"/>
                </a:moveTo>
                <a:cubicBezTo>
                  <a:pt x="163743" y="-9118"/>
                  <a:pt x="414348" y="16437"/>
                  <a:pt x="555960" y="0"/>
                </a:cubicBezTo>
                <a:cubicBezTo>
                  <a:pt x="697572" y="-16437"/>
                  <a:pt x="999084" y="-16167"/>
                  <a:pt x="1111920" y="0"/>
                </a:cubicBezTo>
                <a:cubicBezTo>
                  <a:pt x="1224756" y="16167"/>
                  <a:pt x="1390968" y="19978"/>
                  <a:pt x="1667880" y="0"/>
                </a:cubicBezTo>
                <a:cubicBezTo>
                  <a:pt x="1944792" y="-19978"/>
                  <a:pt x="2012151" y="-6691"/>
                  <a:pt x="2269093" y="0"/>
                </a:cubicBezTo>
                <a:cubicBezTo>
                  <a:pt x="2526035" y="6691"/>
                  <a:pt x="2811207" y="24791"/>
                  <a:pt x="3006063" y="0"/>
                </a:cubicBezTo>
                <a:cubicBezTo>
                  <a:pt x="3200919" y="-24791"/>
                  <a:pt x="3323834" y="-27028"/>
                  <a:pt x="3562023" y="0"/>
                </a:cubicBezTo>
                <a:cubicBezTo>
                  <a:pt x="3800212" y="27028"/>
                  <a:pt x="4208994" y="30283"/>
                  <a:pt x="4525256" y="0"/>
                </a:cubicBezTo>
                <a:cubicBezTo>
                  <a:pt x="4521018" y="196198"/>
                  <a:pt x="4542538" y="343384"/>
                  <a:pt x="4525256" y="470327"/>
                </a:cubicBezTo>
                <a:cubicBezTo>
                  <a:pt x="4507974" y="597270"/>
                  <a:pt x="4520276" y="763607"/>
                  <a:pt x="4525256" y="962033"/>
                </a:cubicBezTo>
                <a:cubicBezTo>
                  <a:pt x="4530236" y="1160459"/>
                  <a:pt x="4547419" y="1226824"/>
                  <a:pt x="4525256" y="1432361"/>
                </a:cubicBezTo>
                <a:cubicBezTo>
                  <a:pt x="4503093" y="1637898"/>
                  <a:pt x="4513387" y="1901391"/>
                  <a:pt x="4525256" y="2137852"/>
                </a:cubicBezTo>
                <a:cubicBezTo>
                  <a:pt x="4372074" y="2135366"/>
                  <a:pt x="4092062" y="2139096"/>
                  <a:pt x="3924043" y="2137852"/>
                </a:cubicBezTo>
                <a:cubicBezTo>
                  <a:pt x="3756024" y="2136608"/>
                  <a:pt x="3466667" y="2134365"/>
                  <a:pt x="3277578" y="2137852"/>
                </a:cubicBezTo>
                <a:cubicBezTo>
                  <a:pt x="3088489" y="2141339"/>
                  <a:pt x="2973656" y="2132055"/>
                  <a:pt x="2721618" y="2137852"/>
                </a:cubicBezTo>
                <a:cubicBezTo>
                  <a:pt x="2469580" y="2143649"/>
                  <a:pt x="2354781" y="2126944"/>
                  <a:pt x="2120406" y="2137852"/>
                </a:cubicBezTo>
                <a:cubicBezTo>
                  <a:pt x="1886031" y="2148760"/>
                  <a:pt x="1745360" y="2147226"/>
                  <a:pt x="1609698" y="2137852"/>
                </a:cubicBezTo>
                <a:cubicBezTo>
                  <a:pt x="1474036" y="2128478"/>
                  <a:pt x="1292107" y="2137235"/>
                  <a:pt x="1053738" y="2137852"/>
                </a:cubicBezTo>
                <a:cubicBezTo>
                  <a:pt x="815369" y="2138469"/>
                  <a:pt x="396307" y="2138782"/>
                  <a:pt x="0" y="2137852"/>
                </a:cubicBezTo>
                <a:cubicBezTo>
                  <a:pt x="-7225" y="1852197"/>
                  <a:pt x="-14362" y="1780199"/>
                  <a:pt x="0" y="1560632"/>
                </a:cubicBezTo>
                <a:cubicBezTo>
                  <a:pt x="14362" y="1341065"/>
                  <a:pt x="-9636" y="1269847"/>
                  <a:pt x="0" y="1004790"/>
                </a:cubicBezTo>
                <a:cubicBezTo>
                  <a:pt x="9636" y="739733"/>
                  <a:pt x="-8605" y="705622"/>
                  <a:pt x="0" y="513084"/>
                </a:cubicBezTo>
                <a:cubicBezTo>
                  <a:pt x="8605" y="320546"/>
                  <a:pt x="3763" y="195544"/>
                  <a:pt x="0" y="0"/>
                </a:cubicBezTo>
                <a:close/>
              </a:path>
            </a:pathLst>
          </a:custGeom>
          <a:solidFill>
            <a:srgbClr val="23607E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等线" panose="02110004020202020204"/>
              </a:rPr>
              <a:t>1. F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all Event Detection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Activity vs. fall discrimination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Fall-related motion patterns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等线" panose="02110004020202020204"/>
                <a:ea typeface="+mn-ea"/>
                <a:cs typeface="+mn-cs"/>
              </a:rPr>
              <a:t>Impact event detection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1AEE90-918C-47E9-D8F0-F653B923FC4B}"/>
              </a:ext>
            </a:extLst>
          </p:cNvPr>
          <p:cNvSpPr/>
          <p:nvPr/>
        </p:nvSpPr>
        <p:spPr>
          <a:xfrm>
            <a:off x="6096000" y="1299434"/>
            <a:ext cx="4525255" cy="2125924"/>
          </a:xfrm>
          <a:custGeom>
            <a:avLst/>
            <a:gdLst>
              <a:gd name="csX0" fmla="*/ 0 w 4525255"/>
              <a:gd name="csY0" fmla="*/ 0 h 2125924"/>
              <a:gd name="csX1" fmla="*/ 691718 w 4525255"/>
              <a:gd name="csY1" fmla="*/ 0 h 2125924"/>
              <a:gd name="csX2" fmla="*/ 1428688 w 4525255"/>
              <a:gd name="csY2" fmla="*/ 0 h 2125924"/>
              <a:gd name="csX3" fmla="*/ 2075153 w 4525255"/>
              <a:gd name="csY3" fmla="*/ 0 h 2125924"/>
              <a:gd name="csX4" fmla="*/ 2721618 w 4525255"/>
              <a:gd name="csY4" fmla="*/ 0 h 2125924"/>
              <a:gd name="csX5" fmla="*/ 3322830 w 4525255"/>
              <a:gd name="csY5" fmla="*/ 0 h 2125924"/>
              <a:gd name="csX6" fmla="*/ 3924043 w 4525255"/>
              <a:gd name="csY6" fmla="*/ 0 h 2125924"/>
              <a:gd name="csX7" fmla="*/ 4525255 w 4525255"/>
              <a:gd name="csY7" fmla="*/ 0 h 2125924"/>
              <a:gd name="csX8" fmla="*/ 4525255 w 4525255"/>
              <a:gd name="csY8" fmla="*/ 488963 h 2125924"/>
              <a:gd name="csX9" fmla="*/ 4525255 w 4525255"/>
              <a:gd name="csY9" fmla="*/ 977925 h 2125924"/>
              <a:gd name="csX10" fmla="*/ 4525255 w 4525255"/>
              <a:gd name="csY10" fmla="*/ 1509406 h 2125924"/>
              <a:gd name="csX11" fmla="*/ 4525255 w 4525255"/>
              <a:gd name="csY11" fmla="*/ 2125924 h 2125924"/>
              <a:gd name="csX12" fmla="*/ 3788285 w 4525255"/>
              <a:gd name="csY12" fmla="*/ 2125924 h 2125924"/>
              <a:gd name="csX13" fmla="*/ 3277578 w 4525255"/>
              <a:gd name="csY13" fmla="*/ 2125924 h 2125924"/>
              <a:gd name="csX14" fmla="*/ 2766870 w 4525255"/>
              <a:gd name="csY14" fmla="*/ 2125924 h 2125924"/>
              <a:gd name="csX15" fmla="*/ 2165658 w 4525255"/>
              <a:gd name="csY15" fmla="*/ 2125924 h 2125924"/>
              <a:gd name="csX16" fmla="*/ 1473940 w 4525255"/>
              <a:gd name="csY16" fmla="*/ 2125924 h 2125924"/>
              <a:gd name="csX17" fmla="*/ 963233 w 4525255"/>
              <a:gd name="csY17" fmla="*/ 2125924 h 2125924"/>
              <a:gd name="csX18" fmla="*/ 0 w 4525255"/>
              <a:gd name="csY18" fmla="*/ 2125924 h 2125924"/>
              <a:gd name="csX19" fmla="*/ 0 w 4525255"/>
              <a:gd name="csY19" fmla="*/ 1636961 h 2125924"/>
              <a:gd name="csX20" fmla="*/ 0 w 4525255"/>
              <a:gd name="csY20" fmla="*/ 1147999 h 2125924"/>
              <a:gd name="csX21" fmla="*/ 0 w 4525255"/>
              <a:gd name="csY21" fmla="*/ 595259 h 2125924"/>
              <a:gd name="csX22" fmla="*/ 0 w 4525255"/>
              <a:gd name="csY22" fmla="*/ 0 h 21259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525255" h="2125924" fill="none" extrusionOk="0">
                <a:moveTo>
                  <a:pt x="0" y="0"/>
                </a:moveTo>
                <a:cubicBezTo>
                  <a:pt x="336538" y="29491"/>
                  <a:pt x="404891" y="16072"/>
                  <a:pt x="691718" y="0"/>
                </a:cubicBezTo>
                <a:cubicBezTo>
                  <a:pt x="978545" y="-16072"/>
                  <a:pt x="1202573" y="19738"/>
                  <a:pt x="1428688" y="0"/>
                </a:cubicBezTo>
                <a:cubicBezTo>
                  <a:pt x="1654803" y="-19738"/>
                  <a:pt x="1753232" y="-10688"/>
                  <a:pt x="2075153" y="0"/>
                </a:cubicBezTo>
                <a:cubicBezTo>
                  <a:pt x="2397075" y="10688"/>
                  <a:pt x="2436327" y="-190"/>
                  <a:pt x="2721618" y="0"/>
                </a:cubicBezTo>
                <a:cubicBezTo>
                  <a:pt x="3006909" y="190"/>
                  <a:pt x="3068200" y="21283"/>
                  <a:pt x="3322830" y="0"/>
                </a:cubicBezTo>
                <a:cubicBezTo>
                  <a:pt x="3577460" y="-21283"/>
                  <a:pt x="3625360" y="-11006"/>
                  <a:pt x="3924043" y="0"/>
                </a:cubicBezTo>
                <a:cubicBezTo>
                  <a:pt x="4222726" y="11006"/>
                  <a:pt x="4345990" y="16535"/>
                  <a:pt x="4525255" y="0"/>
                </a:cubicBezTo>
                <a:cubicBezTo>
                  <a:pt x="4516471" y="103211"/>
                  <a:pt x="4525935" y="375148"/>
                  <a:pt x="4525255" y="488963"/>
                </a:cubicBezTo>
                <a:cubicBezTo>
                  <a:pt x="4524575" y="602778"/>
                  <a:pt x="4527999" y="858183"/>
                  <a:pt x="4525255" y="977925"/>
                </a:cubicBezTo>
                <a:cubicBezTo>
                  <a:pt x="4522511" y="1097667"/>
                  <a:pt x="4533868" y="1307134"/>
                  <a:pt x="4525255" y="1509406"/>
                </a:cubicBezTo>
                <a:cubicBezTo>
                  <a:pt x="4516642" y="1711678"/>
                  <a:pt x="4503863" y="1937584"/>
                  <a:pt x="4525255" y="2125924"/>
                </a:cubicBezTo>
                <a:cubicBezTo>
                  <a:pt x="4339483" y="2128673"/>
                  <a:pt x="4035669" y="2161283"/>
                  <a:pt x="3788285" y="2125924"/>
                </a:cubicBezTo>
                <a:cubicBezTo>
                  <a:pt x="3540901" y="2090566"/>
                  <a:pt x="3471116" y="2129441"/>
                  <a:pt x="3277578" y="2125924"/>
                </a:cubicBezTo>
                <a:cubicBezTo>
                  <a:pt x="3084040" y="2122407"/>
                  <a:pt x="2895139" y="2113337"/>
                  <a:pt x="2766870" y="2125924"/>
                </a:cubicBezTo>
                <a:cubicBezTo>
                  <a:pt x="2638601" y="2138511"/>
                  <a:pt x="2307486" y="2127804"/>
                  <a:pt x="2165658" y="2125924"/>
                </a:cubicBezTo>
                <a:cubicBezTo>
                  <a:pt x="2023830" y="2124044"/>
                  <a:pt x="1806763" y="2145918"/>
                  <a:pt x="1473940" y="2125924"/>
                </a:cubicBezTo>
                <a:cubicBezTo>
                  <a:pt x="1141117" y="2105930"/>
                  <a:pt x="1124266" y="2145175"/>
                  <a:pt x="963233" y="2125924"/>
                </a:cubicBezTo>
                <a:cubicBezTo>
                  <a:pt x="802200" y="2106673"/>
                  <a:pt x="265195" y="2116215"/>
                  <a:pt x="0" y="2125924"/>
                </a:cubicBezTo>
                <a:cubicBezTo>
                  <a:pt x="-652" y="1989019"/>
                  <a:pt x="-3217" y="1758646"/>
                  <a:pt x="0" y="1636961"/>
                </a:cubicBezTo>
                <a:cubicBezTo>
                  <a:pt x="3217" y="1515276"/>
                  <a:pt x="950" y="1316907"/>
                  <a:pt x="0" y="1147999"/>
                </a:cubicBezTo>
                <a:cubicBezTo>
                  <a:pt x="-950" y="979091"/>
                  <a:pt x="-9243" y="850204"/>
                  <a:pt x="0" y="595259"/>
                </a:cubicBezTo>
                <a:cubicBezTo>
                  <a:pt x="9243" y="340314"/>
                  <a:pt x="-11572" y="256605"/>
                  <a:pt x="0" y="0"/>
                </a:cubicBezTo>
                <a:close/>
              </a:path>
              <a:path w="4525255" h="2125924" stroke="0" extrusionOk="0">
                <a:moveTo>
                  <a:pt x="0" y="0"/>
                </a:moveTo>
                <a:cubicBezTo>
                  <a:pt x="163743" y="-9118"/>
                  <a:pt x="414348" y="16437"/>
                  <a:pt x="555960" y="0"/>
                </a:cubicBezTo>
                <a:cubicBezTo>
                  <a:pt x="697572" y="-16437"/>
                  <a:pt x="999084" y="-16167"/>
                  <a:pt x="1111920" y="0"/>
                </a:cubicBezTo>
                <a:cubicBezTo>
                  <a:pt x="1224756" y="16167"/>
                  <a:pt x="1390968" y="19978"/>
                  <a:pt x="1667880" y="0"/>
                </a:cubicBezTo>
                <a:cubicBezTo>
                  <a:pt x="1944792" y="-19978"/>
                  <a:pt x="2019284" y="-2019"/>
                  <a:pt x="2269092" y="0"/>
                </a:cubicBezTo>
                <a:cubicBezTo>
                  <a:pt x="2518900" y="2019"/>
                  <a:pt x="2811206" y="24791"/>
                  <a:pt x="3006062" y="0"/>
                </a:cubicBezTo>
                <a:cubicBezTo>
                  <a:pt x="3200918" y="-24791"/>
                  <a:pt x="3323833" y="-27028"/>
                  <a:pt x="3562022" y="0"/>
                </a:cubicBezTo>
                <a:cubicBezTo>
                  <a:pt x="3800211" y="27028"/>
                  <a:pt x="4208993" y="30283"/>
                  <a:pt x="4525255" y="0"/>
                </a:cubicBezTo>
                <a:cubicBezTo>
                  <a:pt x="4544718" y="132707"/>
                  <a:pt x="4526901" y="252358"/>
                  <a:pt x="4525255" y="467703"/>
                </a:cubicBezTo>
                <a:cubicBezTo>
                  <a:pt x="4523609" y="683048"/>
                  <a:pt x="4546758" y="812251"/>
                  <a:pt x="4525255" y="956666"/>
                </a:cubicBezTo>
                <a:cubicBezTo>
                  <a:pt x="4503752" y="1101081"/>
                  <a:pt x="4530731" y="1223406"/>
                  <a:pt x="4525255" y="1424369"/>
                </a:cubicBezTo>
                <a:cubicBezTo>
                  <a:pt x="4519779" y="1625332"/>
                  <a:pt x="4507291" y="1904988"/>
                  <a:pt x="4525255" y="2125924"/>
                </a:cubicBezTo>
                <a:cubicBezTo>
                  <a:pt x="4372020" y="2118147"/>
                  <a:pt x="4091598" y="2120269"/>
                  <a:pt x="3924043" y="2125924"/>
                </a:cubicBezTo>
                <a:cubicBezTo>
                  <a:pt x="3756488" y="2131579"/>
                  <a:pt x="3466667" y="2122437"/>
                  <a:pt x="3277578" y="2125924"/>
                </a:cubicBezTo>
                <a:cubicBezTo>
                  <a:pt x="3088489" y="2129411"/>
                  <a:pt x="2973656" y="2120127"/>
                  <a:pt x="2721618" y="2125924"/>
                </a:cubicBezTo>
                <a:cubicBezTo>
                  <a:pt x="2469580" y="2131721"/>
                  <a:pt x="2359508" y="2116227"/>
                  <a:pt x="2120405" y="2125924"/>
                </a:cubicBezTo>
                <a:cubicBezTo>
                  <a:pt x="1881302" y="2135621"/>
                  <a:pt x="1740715" y="2132575"/>
                  <a:pt x="1609698" y="2125924"/>
                </a:cubicBezTo>
                <a:cubicBezTo>
                  <a:pt x="1478681" y="2119273"/>
                  <a:pt x="1292107" y="2125307"/>
                  <a:pt x="1053738" y="2125924"/>
                </a:cubicBezTo>
                <a:cubicBezTo>
                  <a:pt x="815369" y="2126541"/>
                  <a:pt x="396307" y="2126854"/>
                  <a:pt x="0" y="2125924"/>
                </a:cubicBezTo>
                <a:cubicBezTo>
                  <a:pt x="10926" y="1954393"/>
                  <a:pt x="-9179" y="1689026"/>
                  <a:pt x="0" y="1551925"/>
                </a:cubicBezTo>
                <a:cubicBezTo>
                  <a:pt x="9179" y="1414824"/>
                  <a:pt x="-25329" y="1112677"/>
                  <a:pt x="0" y="999184"/>
                </a:cubicBezTo>
                <a:cubicBezTo>
                  <a:pt x="25329" y="885691"/>
                  <a:pt x="-24058" y="691500"/>
                  <a:pt x="0" y="510222"/>
                </a:cubicBezTo>
                <a:cubicBezTo>
                  <a:pt x="24058" y="328944"/>
                  <a:pt x="-15638" y="130249"/>
                  <a:pt x="0" y="0"/>
                </a:cubicBezTo>
                <a:close/>
              </a:path>
            </a:pathLst>
          </a:custGeom>
          <a:solidFill>
            <a:srgbClr val="3C82AE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800" b="1" dirty="0">
                <a:solidFill>
                  <a:schemeClr val="bg1"/>
                </a:solidFill>
                <a:latin typeface="等线" panose="02110004020202020204"/>
              </a:rPr>
              <a:t>2. Indoor Location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2"/>
                </a:solidFill>
                <a:latin typeface="等线" panose="02110004020202020204"/>
              </a:rPr>
              <a:t>Event-time indoor location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2"/>
                </a:solidFill>
                <a:latin typeface="等线" panose="02110004020202020204"/>
              </a:rPr>
              <a:t>Room-level localization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2"/>
                </a:solidFill>
                <a:latin typeface="等线" panose="02110004020202020204"/>
              </a:rPr>
              <a:t>Zone-level context (if available)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AA7B99-6B17-DD83-1EC2-78B9106A1887}"/>
              </a:ext>
            </a:extLst>
          </p:cNvPr>
          <p:cNvSpPr/>
          <p:nvPr/>
        </p:nvSpPr>
        <p:spPr>
          <a:xfrm>
            <a:off x="838200" y="3576901"/>
            <a:ext cx="4525255" cy="1766468"/>
          </a:xfrm>
          <a:custGeom>
            <a:avLst/>
            <a:gdLst>
              <a:gd name="csX0" fmla="*/ 0 w 4525255"/>
              <a:gd name="csY0" fmla="*/ 0 h 1766468"/>
              <a:gd name="csX1" fmla="*/ 555960 w 4525255"/>
              <a:gd name="csY1" fmla="*/ 0 h 1766468"/>
              <a:gd name="csX2" fmla="*/ 1157172 w 4525255"/>
              <a:gd name="csY2" fmla="*/ 0 h 1766468"/>
              <a:gd name="csX3" fmla="*/ 1894142 w 4525255"/>
              <a:gd name="csY3" fmla="*/ 0 h 1766468"/>
              <a:gd name="csX4" fmla="*/ 2631113 w 4525255"/>
              <a:gd name="csY4" fmla="*/ 0 h 1766468"/>
              <a:gd name="csX5" fmla="*/ 3277578 w 4525255"/>
              <a:gd name="csY5" fmla="*/ 0 h 1766468"/>
              <a:gd name="csX6" fmla="*/ 3924043 w 4525255"/>
              <a:gd name="csY6" fmla="*/ 0 h 1766468"/>
              <a:gd name="csX7" fmla="*/ 4525255 w 4525255"/>
              <a:gd name="csY7" fmla="*/ 0 h 1766468"/>
              <a:gd name="csX8" fmla="*/ 4525255 w 4525255"/>
              <a:gd name="csY8" fmla="*/ 571158 h 1766468"/>
              <a:gd name="csX9" fmla="*/ 4525255 w 4525255"/>
              <a:gd name="csY9" fmla="*/ 1142316 h 1766468"/>
              <a:gd name="csX10" fmla="*/ 4525255 w 4525255"/>
              <a:gd name="csY10" fmla="*/ 1766468 h 1766468"/>
              <a:gd name="csX11" fmla="*/ 3969295 w 4525255"/>
              <a:gd name="csY11" fmla="*/ 1766468 h 1766468"/>
              <a:gd name="csX12" fmla="*/ 3413335 w 4525255"/>
              <a:gd name="csY12" fmla="*/ 1766468 h 1766468"/>
              <a:gd name="csX13" fmla="*/ 2766870 w 4525255"/>
              <a:gd name="csY13" fmla="*/ 1766468 h 1766468"/>
              <a:gd name="csX14" fmla="*/ 2256163 w 4525255"/>
              <a:gd name="csY14" fmla="*/ 1766468 h 1766468"/>
              <a:gd name="csX15" fmla="*/ 1745455 w 4525255"/>
              <a:gd name="csY15" fmla="*/ 1766468 h 1766468"/>
              <a:gd name="csX16" fmla="*/ 1234748 w 4525255"/>
              <a:gd name="csY16" fmla="*/ 1766468 h 1766468"/>
              <a:gd name="csX17" fmla="*/ 633536 w 4525255"/>
              <a:gd name="csY17" fmla="*/ 1766468 h 1766468"/>
              <a:gd name="csX18" fmla="*/ 0 w 4525255"/>
              <a:gd name="csY18" fmla="*/ 1766468 h 1766468"/>
              <a:gd name="csX19" fmla="*/ 0 w 4525255"/>
              <a:gd name="csY19" fmla="*/ 1230639 h 1766468"/>
              <a:gd name="csX20" fmla="*/ 0 w 4525255"/>
              <a:gd name="csY20" fmla="*/ 694811 h 1766468"/>
              <a:gd name="csX21" fmla="*/ 0 w 4525255"/>
              <a:gd name="csY21" fmla="*/ 0 h 1766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25255" h="1766468" fill="none" extrusionOk="0">
                <a:moveTo>
                  <a:pt x="0" y="0"/>
                </a:moveTo>
                <a:cubicBezTo>
                  <a:pt x="168864" y="3976"/>
                  <a:pt x="299877" y="-24639"/>
                  <a:pt x="555960" y="0"/>
                </a:cubicBezTo>
                <a:cubicBezTo>
                  <a:pt x="812043" y="24639"/>
                  <a:pt x="881378" y="10228"/>
                  <a:pt x="1157172" y="0"/>
                </a:cubicBezTo>
                <a:cubicBezTo>
                  <a:pt x="1432966" y="-10228"/>
                  <a:pt x="1740343" y="17084"/>
                  <a:pt x="1894142" y="0"/>
                </a:cubicBezTo>
                <a:cubicBezTo>
                  <a:pt x="2047941" y="-17084"/>
                  <a:pt x="2402590" y="14886"/>
                  <a:pt x="2631113" y="0"/>
                </a:cubicBezTo>
                <a:cubicBezTo>
                  <a:pt x="2859636" y="-14886"/>
                  <a:pt x="2955657" y="-10688"/>
                  <a:pt x="3277578" y="0"/>
                </a:cubicBezTo>
                <a:cubicBezTo>
                  <a:pt x="3599500" y="10688"/>
                  <a:pt x="3638752" y="-190"/>
                  <a:pt x="3924043" y="0"/>
                </a:cubicBezTo>
                <a:cubicBezTo>
                  <a:pt x="4209334" y="190"/>
                  <a:pt x="4270625" y="21283"/>
                  <a:pt x="4525255" y="0"/>
                </a:cubicBezTo>
                <a:cubicBezTo>
                  <a:pt x="4547518" y="172315"/>
                  <a:pt x="4535601" y="340964"/>
                  <a:pt x="4525255" y="571158"/>
                </a:cubicBezTo>
                <a:cubicBezTo>
                  <a:pt x="4514909" y="801352"/>
                  <a:pt x="4513757" y="982988"/>
                  <a:pt x="4525255" y="1142316"/>
                </a:cubicBezTo>
                <a:cubicBezTo>
                  <a:pt x="4536753" y="1301644"/>
                  <a:pt x="4509877" y="1531201"/>
                  <a:pt x="4525255" y="1766468"/>
                </a:cubicBezTo>
                <a:cubicBezTo>
                  <a:pt x="4248448" y="1742802"/>
                  <a:pt x="4236696" y="1744548"/>
                  <a:pt x="3969295" y="1766468"/>
                </a:cubicBezTo>
                <a:cubicBezTo>
                  <a:pt x="3701894" y="1788388"/>
                  <a:pt x="3530981" y="1762330"/>
                  <a:pt x="3413335" y="1766468"/>
                </a:cubicBezTo>
                <a:cubicBezTo>
                  <a:pt x="3295689" y="1770606"/>
                  <a:pt x="3030412" y="1791042"/>
                  <a:pt x="2766870" y="1766468"/>
                </a:cubicBezTo>
                <a:cubicBezTo>
                  <a:pt x="2503329" y="1741894"/>
                  <a:pt x="2463386" y="1753723"/>
                  <a:pt x="2256163" y="1766468"/>
                </a:cubicBezTo>
                <a:cubicBezTo>
                  <a:pt x="2048940" y="1779213"/>
                  <a:pt x="1942319" y="1773865"/>
                  <a:pt x="1745455" y="1766468"/>
                </a:cubicBezTo>
                <a:cubicBezTo>
                  <a:pt x="1548591" y="1759071"/>
                  <a:pt x="1361524" y="1749390"/>
                  <a:pt x="1234748" y="1766468"/>
                </a:cubicBezTo>
                <a:cubicBezTo>
                  <a:pt x="1107972" y="1783546"/>
                  <a:pt x="775364" y="1768348"/>
                  <a:pt x="633536" y="1766468"/>
                </a:cubicBezTo>
                <a:cubicBezTo>
                  <a:pt x="491708" y="1764588"/>
                  <a:pt x="206938" y="1735667"/>
                  <a:pt x="0" y="1766468"/>
                </a:cubicBezTo>
                <a:cubicBezTo>
                  <a:pt x="-13183" y="1539743"/>
                  <a:pt x="5727" y="1433263"/>
                  <a:pt x="0" y="1230639"/>
                </a:cubicBezTo>
                <a:cubicBezTo>
                  <a:pt x="-5727" y="1028015"/>
                  <a:pt x="-7502" y="833087"/>
                  <a:pt x="0" y="694811"/>
                </a:cubicBezTo>
                <a:cubicBezTo>
                  <a:pt x="7502" y="556535"/>
                  <a:pt x="-12137" y="262798"/>
                  <a:pt x="0" y="0"/>
                </a:cubicBezTo>
                <a:close/>
              </a:path>
              <a:path w="4525255" h="1766468" stroke="0" extrusionOk="0">
                <a:moveTo>
                  <a:pt x="0" y="0"/>
                </a:moveTo>
                <a:cubicBezTo>
                  <a:pt x="163743" y="-9118"/>
                  <a:pt x="414348" y="16437"/>
                  <a:pt x="555960" y="0"/>
                </a:cubicBezTo>
                <a:cubicBezTo>
                  <a:pt x="697572" y="-16437"/>
                  <a:pt x="999084" y="-16167"/>
                  <a:pt x="1111920" y="0"/>
                </a:cubicBezTo>
                <a:cubicBezTo>
                  <a:pt x="1224756" y="16167"/>
                  <a:pt x="1390968" y="19978"/>
                  <a:pt x="1667880" y="0"/>
                </a:cubicBezTo>
                <a:cubicBezTo>
                  <a:pt x="1944792" y="-19978"/>
                  <a:pt x="2019284" y="-2019"/>
                  <a:pt x="2269092" y="0"/>
                </a:cubicBezTo>
                <a:cubicBezTo>
                  <a:pt x="2518900" y="2019"/>
                  <a:pt x="2811206" y="24791"/>
                  <a:pt x="3006062" y="0"/>
                </a:cubicBezTo>
                <a:cubicBezTo>
                  <a:pt x="3200918" y="-24791"/>
                  <a:pt x="3323833" y="-27028"/>
                  <a:pt x="3562022" y="0"/>
                </a:cubicBezTo>
                <a:cubicBezTo>
                  <a:pt x="3800211" y="27028"/>
                  <a:pt x="4208993" y="30283"/>
                  <a:pt x="4525255" y="0"/>
                </a:cubicBezTo>
                <a:cubicBezTo>
                  <a:pt x="4545757" y="187914"/>
                  <a:pt x="4535969" y="374076"/>
                  <a:pt x="4525255" y="535829"/>
                </a:cubicBezTo>
                <a:cubicBezTo>
                  <a:pt x="4514541" y="697582"/>
                  <a:pt x="4514737" y="824519"/>
                  <a:pt x="4525255" y="1089322"/>
                </a:cubicBezTo>
                <a:cubicBezTo>
                  <a:pt x="4535773" y="1354125"/>
                  <a:pt x="4518430" y="1505812"/>
                  <a:pt x="4525255" y="1766468"/>
                </a:cubicBezTo>
                <a:cubicBezTo>
                  <a:pt x="4385011" y="1737522"/>
                  <a:pt x="4073874" y="1739139"/>
                  <a:pt x="3878790" y="1766468"/>
                </a:cubicBezTo>
                <a:cubicBezTo>
                  <a:pt x="3683706" y="1793797"/>
                  <a:pt x="3494555" y="1752671"/>
                  <a:pt x="3368083" y="1766468"/>
                </a:cubicBezTo>
                <a:cubicBezTo>
                  <a:pt x="3241611" y="1780265"/>
                  <a:pt x="2910707" y="1762981"/>
                  <a:pt x="2721618" y="1766468"/>
                </a:cubicBezTo>
                <a:cubicBezTo>
                  <a:pt x="2532529" y="1769955"/>
                  <a:pt x="2417696" y="1760671"/>
                  <a:pt x="2165658" y="1766468"/>
                </a:cubicBezTo>
                <a:cubicBezTo>
                  <a:pt x="1913620" y="1772265"/>
                  <a:pt x="1803548" y="1756771"/>
                  <a:pt x="1564445" y="1766468"/>
                </a:cubicBezTo>
                <a:cubicBezTo>
                  <a:pt x="1325342" y="1776165"/>
                  <a:pt x="1184755" y="1773119"/>
                  <a:pt x="1053738" y="1766468"/>
                </a:cubicBezTo>
                <a:cubicBezTo>
                  <a:pt x="922721" y="1759817"/>
                  <a:pt x="450455" y="1818065"/>
                  <a:pt x="0" y="1766468"/>
                </a:cubicBezTo>
                <a:cubicBezTo>
                  <a:pt x="-21434" y="1493078"/>
                  <a:pt x="5960" y="1338205"/>
                  <a:pt x="0" y="1177645"/>
                </a:cubicBezTo>
                <a:cubicBezTo>
                  <a:pt x="-5960" y="1017085"/>
                  <a:pt x="-9308" y="870107"/>
                  <a:pt x="0" y="641817"/>
                </a:cubicBezTo>
                <a:cubicBezTo>
                  <a:pt x="9308" y="413527"/>
                  <a:pt x="10161" y="266422"/>
                  <a:pt x="0" y="0"/>
                </a:cubicBezTo>
                <a:close/>
              </a:path>
            </a:pathLst>
          </a:custGeom>
          <a:solidFill>
            <a:srgbClr val="6692B3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800" b="1" dirty="0">
                <a:solidFill>
                  <a:schemeClr val="bg1"/>
                </a:solidFill>
                <a:latin typeface="等线" panose="02110004020202020204"/>
              </a:rPr>
              <a:t>3. Integrated Alerts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Fall severity indication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Predicted room / zone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With event timestamp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DEF584-6BCA-8E52-BA2B-5AA1F6977AFB}"/>
              </a:ext>
            </a:extLst>
          </p:cNvPr>
          <p:cNvSpPr/>
          <p:nvPr/>
        </p:nvSpPr>
        <p:spPr>
          <a:xfrm>
            <a:off x="6096000" y="3576901"/>
            <a:ext cx="4525253" cy="1766468"/>
          </a:xfrm>
          <a:custGeom>
            <a:avLst/>
            <a:gdLst>
              <a:gd name="csX0" fmla="*/ 0 w 4525253"/>
              <a:gd name="csY0" fmla="*/ 0 h 1766468"/>
              <a:gd name="csX1" fmla="*/ 555960 w 4525253"/>
              <a:gd name="csY1" fmla="*/ 0 h 1766468"/>
              <a:gd name="csX2" fmla="*/ 1157172 w 4525253"/>
              <a:gd name="csY2" fmla="*/ 0 h 1766468"/>
              <a:gd name="csX3" fmla="*/ 1894142 w 4525253"/>
              <a:gd name="csY3" fmla="*/ 0 h 1766468"/>
              <a:gd name="csX4" fmla="*/ 2631111 w 4525253"/>
              <a:gd name="csY4" fmla="*/ 0 h 1766468"/>
              <a:gd name="csX5" fmla="*/ 3277576 w 4525253"/>
              <a:gd name="csY5" fmla="*/ 0 h 1766468"/>
              <a:gd name="csX6" fmla="*/ 3924041 w 4525253"/>
              <a:gd name="csY6" fmla="*/ 0 h 1766468"/>
              <a:gd name="csX7" fmla="*/ 4525253 w 4525253"/>
              <a:gd name="csY7" fmla="*/ 0 h 1766468"/>
              <a:gd name="csX8" fmla="*/ 4525253 w 4525253"/>
              <a:gd name="csY8" fmla="*/ 571158 h 1766468"/>
              <a:gd name="csX9" fmla="*/ 4525253 w 4525253"/>
              <a:gd name="csY9" fmla="*/ 1142316 h 1766468"/>
              <a:gd name="csX10" fmla="*/ 4525253 w 4525253"/>
              <a:gd name="csY10" fmla="*/ 1766468 h 1766468"/>
              <a:gd name="csX11" fmla="*/ 3969293 w 4525253"/>
              <a:gd name="csY11" fmla="*/ 1766468 h 1766468"/>
              <a:gd name="csX12" fmla="*/ 3413334 w 4525253"/>
              <a:gd name="csY12" fmla="*/ 1766468 h 1766468"/>
              <a:gd name="csX13" fmla="*/ 2766869 w 4525253"/>
              <a:gd name="csY13" fmla="*/ 1766468 h 1766468"/>
              <a:gd name="csX14" fmla="*/ 2256162 w 4525253"/>
              <a:gd name="csY14" fmla="*/ 1766468 h 1766468"/>
              <a:gd name="csX15" fmla="*/ 1745455 w 4525253"/>
              <a:gd name="csY15" fmla="*/ 1766468 h 1766468"/>
              <a:gd name="csX16" fmla="*/ 1234748 w 4525253"/>
              <a:gd name="csY16" fmla="*/ 1766468 h 1766468"/>
              <a:gd name="csX17" fmla="*/ 633535 w 4525253"/>
              <a:gd name="csY17" fmla="*/ 1766468 h 1766468"/>
              <a:gd name="csX18" fmla="*/ 0 w 4525253"/>
              <a:gd name="csY18" fmla="*/ 1766468 h 1766468"/>
              <a:gd name="csX19" fmla="*/ 0 w 4525253"/>
              <a:gd name="csY19" fmla="*/ 1230639 h 1766468"/>
              <a:gd name="csX20" fmla="*/ 0 w 4525253"/>
              <a:gd name="csY20" fmla="*/ 694811 h 1766468"/>
              <a:gd name="csX21" fmla="*/ 0 w 4525253"/>
              <a:gd name="csY21" fmla="*/ 0 h 1766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525253" h="1766468" fill="none" extrusionOk="0">
                <a:moveTo>
                  <a:pt x="0" y="0"/>
                </a:moveTo>
                <a:cubicBezTo>
                  <a:pt x="168864" y="3976"/>
                  <a:pt x="299877" y="-24639"/>
                  <a:pt x="555960" y="0"/>
                </a:cubicBezTo>
                <a:cubicBezTo>
                  <a:pt x="812043" y="24639"/>
                  <a:pt x="881378" y="10228"/>
                  <a:pt x="1157172" y="0"/>
                </a:cubicBezTo>
                <a:cubicBezTo>
                  <a:pt x="1432966" y="-10228"/>
                  <a:pt x="1740343" y="17084"/>
                  <a:pt x="1894142" y="0"/>
                </a:cubicBezTo>
                <a:cubicBezTo>
                  <a:pt x="2047941" y="-17084"/>
                  <a:pt x="2407404" y="24589"/>
                  <a:pt x="2631111" y="0"/>
                </a:cubicBezTo>
                <a:cubicBezTo>
                  <a:pt x="2854818" y="-24589"/>
                  <a:pt x="2955655" y="-10688"/>
                  <a:pt x="3277576" y="0"/>
                </a:cubicBezTo>
                <a:cubicBezTo>
                  <a:pt x="3599498" y="10688"/>
                  <a:pt x="3638750" y="-190"/>
                  <a:pt x="3924041" y="0"/>
                </a:cubicBezTo>
                <a:cubicBezTo>
                  <a:pt x="4209332" y="190"/>
                  <a:pt x="4270623" y="21283"/>
                  <a:pt x="4525253" y="0"/>
                </a:cubicBezTo>
                <a:cubicBezTo>
                  <a:pt x="4547516" y="172315"/>
                  <a:pt x="4535599" y="340964"/>
                  <a:pt x="4525253" y="571158"/>
                </a:cubicBezTo>
                <a:cubicBezTo>
                  <a:pt x="4514907" y="801352"/>
                  <a:pt x="4513755" y="982988"/>
                  <a:pt x="4525253" y="1142316"/>
                </a:cubicBezTo>
                <a:cubicBezTo>
                  <a:pt x="4536751" y="1301644"/>
                  <a:pt x="4509875" y="1531201"/>
                  <a:pt x="4525253" y="1766468"/>
                </a:cubicBezTo>
                <a:cubicBezTo>
                  <a:pt x="4248446" y="1742802"/>
                  <a:pt x="4236694" y="1744548"/>
                  <a:pt x="3969293" y="1766468"/>
                </a:cubicBezTo>
                <a:cubicBezTo>
                  <a:pt x="3701892" y="1788388"/>
                  <a:pt x="3525088" y="1759604"/>
                  <a:pt x="3413334" y="1766468"/>
                </a:cubicBezTo>
                <a:cubicBezTo>
                  <a:pt x="3301580" y="1773332"/>
                  <a:pt x="3030411" y="1791042"/>
                  <a:pt x="2766869" y="1766468"/>
                </a:cubicBezTo>
                <a:cubicBezTo>
                  <a:pt x="2503328" y="1741894"/>
                  <a:pt x="2463385" y="1753723"/>
                  <a:pt x="2256162" y="1766468"/>
                </a:cubicBezTo>
                <a:cubicBezTo>
                  <a:pt x="2048939" y="1779213"/>
                  <a:pt x="1938993" y="1769985"/>
                  <a:pt x="1745455" y="1766468"/>
                </a:cubicBezTo>
                <a:cubicBezTo>
                  <a:pt x="1551917" y="1762951"/>
                  <a:pt x="1361524" y="1749390"/>
                  <a:pt x="1234748" y="1766468"/>
                </a:cubicBezTo>
                <a:cubicBezTo>
                  <a:pt x="1107972" y="1783546"/>
                  <a:pt x="776289" y="1770771"/>
                  <a:pt x="633535" y="1766468"/>
                </a:cubicBezTo>
                <a:cubicBezTo>
                  <a:pt x="490781" y="1762165"/>
                  <a:pt x="205891" y="1735246"/>
                  <a:pt x="0" y="1766468"/>
                </a:cubicBezTo>
                <a:cubicBezTo>
                  <a:pt x="-13183" y="1539743"/>
                  <a:pt x="5727" y="1433263"/>
                  <a:pt x="0" y="1230639"/>
                </a:cubicBezTo>
                <a:cubicBezTo>
                  <a:pt x="-5727" y="1028015"/>
                  <a:pt x="-7502" y="833087"/>
                  <a:pt x="0" y="694811"/>
                </a:cubicBezTo>
                <a:cubicBezTo>
                  <a:pt x="7502" y="556535"/>
                  <a:pt x="-12137" y="262798"/>
                  <a:pt x="0" y="0"/>
                </a:cubicBezTo>
                <a:close/>
              </a:path>
              <a:path w="4525253" h="1766468" stroke="0" extrusionOk="0">
                <a:moveTo>
                  <a:pt x="0" y="0"/>
                </a:moveTo>
                <a:cubicBezTo>
                  <a:pt x="163743" y="-9118"/>
                  <a:pt x="414348" y="16437"/>
                  <a:pt x="555960" y="0"/>
                </a:cubicBezTo>
                <a:cubicBezTo>
                  <a:pt x="697572" y="-16437"/>
                  <a:pt x="1000196" y="-9051"/>
                  <a:pt x="1111919" y="0"/>
                </a:cubicBezTo>
                <a:cubicBezTo>
                  <a:pt x="1223642" y="9051"/>
                  <a:pt x="1390967" y="19978"/>
                  <a:pt x="1667879" y="0"/>
                </a:cubicBezTo>
                <a:cubicBezTo>
                  <a:pt x="1944791" y="-19978"/>
                  <a:pt x="2019283" y="-2019"/>
                  <a:pt x="2269091" y="0"/>
                </a:cubicBezTo>
                <a:cubicBezTo>
                  <a:pt x="2518899" y="2019"/>
                  <a:pt x="2811205" y="24791"/>
                  <a:pt x="3006061" y="0"/>
                </a:cubicBezTo>
                <a:cubicBezTo>
                  <a:pt x="3200917" y="-24791"/>
                  <a:pt x="3323832" y="-27028"/>
                  <a:pt x="3562021" y="0"/>
                </a:cubicBezTo>
                <a:cubicBezTo>
                  <a:pt x="3800210" y="27028"/>
                  <a:pt x="4209241" y="32403"/>
                  <a:pt x="4525253" y="0"/>
                </a:cubicBezTo>
                <a:cubicBezTo>
                  <a:pt x="4545755" y="187914"/>
                  <a:pt x="4535967" y="374076"/>
                  <a:pt x="4525253" y="535829"/>
                </a:cubicBezTo>
                <a:cubicBezTo>
                  <a:pt x="4514539" y="697582"/>
                  <a:pt x="4514735" y="824519"/>
                  <a:pt x="4525253" y="1089322"/>
                </a:cubicBezTo>
                <a:cubicBezTo>
                  <a:pt x="4535771" y="1354125"/>
                  <a:pt x="4518428" y="1505812"/>
                  <a:pt x="4525253" y="1766468"/>
                </a:cubicBezTo>
                <a:cubicBezTo>
                  <a:pt x="4385009" y="1737522"/>
                  <a:pt x="4073872" y="1739139"/>
                  <a:pt x="3878788" y="1766468"/>
                </a:cubicBezTo>
                <a:cubicBezTo>
                  <a:pt x="3683704" y="1793797"/>
                  <a:pt x="3494553" y="1752671"/>
                  <a:pt x="3368081" y="1766468"/>
                </a:cubicBezTo>
                <a:cubicBezTo>
                  <a:pt x="3241609" y="1780265"/>
                  <a:pt x="2910705" y="1762981"/>
                  <a:pt x="2721616" y="1766468"/>
                </a:cubicBezTo>
                <a:cubicBezTo>
                  <a:pt x="2532527" y="1769955"/>
                  <a:pt x="2411039" y="1759075"/>
                  <a:pt x="2165657" y="1766468"/>
                </a:cubicBezTo>
                <a:cubicBezTo>
                  <a:pt x="1920275" y="1773861"/>
                  <a:pt x="1798820" y="1755560"/>
                  <a:pt x="1564445" y="1766468"/>
                </a:cubicBezTo>
                <a:cubicBezTo>
                  <a:pt x="1330070" y="1777376"/>
                  <a:pt x="1189399" y="1775842"/>
                  <a:pt x="1053737" y="1766468"/>
                </a:cubicBezTo>
                <a:cubicBezTo>
                  <a:pt x="918075" y="1757094"/>
                  <a:pt x="447985" y="1814672"/>
                  <a:pt x="0" y="1766468"/>
                </a:cubicBezTo>
                <a:cubicBezTo>
                  <a:pt x="-21434" y="1493078"/>
                  <a:pt x="5960" y="1338205"/>
                  <a:pt x="0" y="1177645"/>
                </a:cubicBezTo>
                <a:cubicBezTo>
                  <a:pt x="-5960" y="1017085"/>
                  <a:pt x="-9308" y="870107"/>
                  <a:pt x="0" y="641817"/>
                </a:cubicBezTo>
                <a:cubicBezTo>
                  <a:pt x="9308" y="413527"/>
                  <a:pt x="10161" y="266422"/>
                  <a:pt x="0" y="0"/>
                </a:cubicBezTo>
                <a:close/>
              </a:path>
            </a:pathLst>
          </a:custGeom>
          <a:solidFill>
            <a:srgbClr val="8899A8"/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sz="2800" b="1" dirty="0">
                <a:solidFill>
                  <a:schemeClr val="bg1"/>
                </a:solidFill>
                <a:latin typeface="等线" panose="02110004020202020204"/>
              </a:rPr>
              <a:t>4. Long-term Analysis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High-risk fall-prone areas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High-risk time periods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等线" panose="02110004020202020204"/>
              </a:rPr>
              <a:t>Optimization suggestions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021060-85EC-0D9D-38C6-7A7E27BBC0FB}"/>
              </a:ext>
            </a:extLst>
          </p:cNvPr>
          <p:cNvSpPr/>
          <p:nvPr/>
        </p:nvSpPr>
        <p:spPr>
          <a:xfrm>
            <a:off x="838199" y="5537836"/>
            <a:ext cx="9783054" cy="872067"/>
          </a:xfrm>
          <a:custGeom>
            <a:avLst/>
            <a:gdLst>
              <a:gd name="csX0" fmla="*/ 0 w 9783054"/>
              <a:gd name="csY0" fmla="*/ 0 h 872067"/>
              <a:gd name="csX1" fmla="*/ 405298 w 9783054"/>
              <a:gd name="csY1" fmla="*/ 0 h 872067"/>
              <a:gd name="csX2" fmla="*/ 1104088 w 9783054"/>
              <a:gd name="csY2" fmla="*/ 0 h 872067"/>
              <a:gd name="csX3" fmla="*/ 1900708 w 9783054"/>
              <a:gd name="csY3" fmla="*/ 0 h 872067"/>
              <a:gd name="csX4" fmla="*/ 2501667 w 9783054"/>
              <a:gd name="csY4" fmla="*/ 0 h 872067"/>
              <a:gd name="csX5" fmla="*/ 2906965 w 9783054"/>
              <a:gd name="csY5" fmla="*/ 0 h 872067"/>
              <a:gd name="csX6" fmla="*/ 3507924 w 9783054"/>
              <a:gd name="csY6" fmla="*/ 0 h 872067"/>
              <a:gd name="csX7" fmla="*/ 4011052 w 9783054"/>
              <a:gd name="csY7" fmla="*/ 0 h 872067"/>
              <a:gd name="csX8" fmla="*/ 4807672 w 9783054"/>
              <a:gd name="csY8" fmla="*/ 0 h 872067"/>
              <a:gd name="csX9" fmla="*/ 5212970 w 9783054"/>
              <a:gd name="csY9" fmla="*/ 0 h 872067"/>
              <a:gd name="csX10" fmla="*/ 5618268 w 9783054"/>
              <a:gd name="csY10" fmla="*/ 0 h 872067"/>
              <a:gd name="csX11" fmla="*/ 6317058 w 9783054"/>
              <a:gd name="csY11" fmla="*/ 0 h 872067"/>
              <a:gd name="csX12" fmla="*/ 7113678 w 9783054"/>
              <a:gd name="csY12" fmla="*/ 0 h 872067"/>
              <a:gd name="csX13" fmla="*/ 8008128 w 9783054"/>
              <a:gd name="csY13" fmla="*/ 0 h 872067"/>
              <a:gd name="csX14" fmla="*/ 8902579 w 9783054"/>
              <a:gd name="csY14" fmla="*/ 0 h 872067"/>
              <a:gd name="csX15" fmla="*/ 9783054 w 9783054"/>
              <a:gd name="csY15" fmla="*/ 0 h 872067"/>
              <a:gd name="csX16" fmla="*/ 9783054 w 9783054"/>
              <a:gd name="csY16" fmla="*/ 418592 h 872067"/>
              <a:gd name="csX17" fmla="*/ 9783054 w 9783054"/>
              <a:gd name="csY17" fmla="*/ 872067 h 872067"/>
              <a:gd name="csX18" fmla="*/ 9279926 w 9783054"/>
              <a:gd name="csY18" fmla="*/ 872067 h 872067"/>
              <a:gd name="csX19" fmla="*/ 8874628 w 9783054"/>
              <a:gd name="csY19" fmla="*/ 872067 h 872067"/>
              <a:gd name="csX20" fmla="*/ 8469330 w 9783054"/>
              <a:gd name="csY20" fmla="*/ 872067 h 872067"/>
              <a:gd name="csX21" fmla="*/ 7966201 w 9783054"/>
              <a:gd name="csY21" fmla="*/ 872067 h 872067"/>
              <a:gd name="csX22" fmla="*/ 7560903 w 9783054"/>
              <a:gd name="csY22" fmla="*/ 872067 h 872067"/>
              <a:gd name="csX23" fmla="*/ 6666453 w 9783054"/>
              <a:gd name="csY23" fmla="*/ 872067 h 872067"/>
              <a:gd name="csX24" fmla="*/ 6261155 w 9783054"/>
              <a:gd name="csY24" fmla="*/ 872067 h 872067"/>
              <a:gd name="csX25" fmla="*/ 5464534 w 9783054"/>
              <a:gd name="csY25" fmla="*/ 872067 h 872067"/>
              <a:gd name="csX26" fmla="*/ 4765745 w 9783054"/>
              <a:gd name="csY26" fmla="*/ 872067 h 872067"/>
              <a:gd name="csX27" fmla="*/ 4360447 w 9783054"/>
              <a:gd name="csY27" fmla="*/ 872067 h 872067"/>
              <a:gd name="csX28" fmla="*/ 3857318 w 9783054"/>
              <a:gd name="csY28" fmla="*/ 872067 h 872067"/>
              <a:gd name="csX29" fmla="*/ 3452020 w 9783054"/>
              <a:gd name="csY29" fmla="*/ 872067 h 872067"/>
              <a:gd name="csX30" fmla="*/ 3046723 w 9783054"/>
              <a:gd name="csY30" fmla="*/ 872067 h 872067"/>
              <a:gd name="csX31" fmla="*/ 2152272 w 9783054"/>
              <a:gd name="csY31" fmla="*/ 872067 h 872067"/>
              <a:gd name="csX32" fmla="*/ 1257821 w 9783054"/>
              <a:gd name="csY32" fmla="*/ 872067 h 872067"/>
              <a:gd name="csX33" fmla="*/ 0 w 9783054"/>
              <a:gd name="csY33" fmla="*/ 872067 h 872067"/>
              <a:gd name="csX34" fmla="*/ 0 w 9783054"/>
              <a:gd name="csY34" fmla="*/ 444754 h 872067"/>
              <a:gd name="csX35" fmla="*/ 0 w 9783054"/>
              <a:gd name="csY35" fmla="*/ 0 h 872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9783054" h="872067" fill="none" extrusionOk="0">
                <a:moveTo>
                  <a:pt x="0" y="0"/>
                </a:moveTo>
                <a:cubicBezTo>
                  <a:pt x="162969" y="-3886"/>
                  <a:pt x="255787" y="-14194"/>
                  <a:pt x="405298" y="0"/>
                </a:cubicBezTo>
                <a:cubicBezTo>
                  <a:pt x="554809" y="14194"/>
                  <a:pt x="789737" y="-21079"/>
                  <a:pt x="1104088" y="0"/>
                </a:cubicBezTo>
                <a:cubicBezTo>
                  <a:pt x="1418439" y="21079"/>
                  <a:pt x="1524540" y="-3526"/>
                  <a:pt x="1900708" y="0"/>
                </a:cubicBezTo>
                <a:cubicBezTo>
                  <a:pt x="2276876" y="3526"/>
                  <a:pt x="2296854" y="-10679"/>
                  <a:pt x="2501667" y="0"/>
                </a:cubicBezTo>
                <a:cubicBezTo>
                  <a:pt x="2706480" y="10679"/>
                  <a:pt x="2712981" y="-15025"/>
                  <a:pt x="2906965" y="0"/>
                </a:cubicBezTo>
                <a:cubicBezTo>
                  <a:pt x="3100949" y="15025"/>
                  <a:pt x="3375549" y="6761"/>
                  <a:pt x="3507924" y="0"/>
                </a:cubicBezTo>
                <a:cubicBezTo>
                  <a:pt x="3640299" y="-6761"/>
                  <a:pt x="3892415" y="-11963"/>
                  <a:pt x="4011052" y="0"/>
                </a:cubicBezTo>
                <a:cubicBezTo>
                  <a:pt x="4129689" y="11963"/>
                  <a:pt x="4547421" y="36957"/>
                  <a:pt x="4807672" y="0"/>
                </a:cubicBezTo>
                <a:cubicBezTo>
                  <a:pt x="5067923" y="-36957"/>
                  <a:pt x="5074926" y="-18693"/>
                  <a:pt x="5212970" y="0"/>
                </a:cubicBezTo>
                <a:cubicBezTo>
                  <a:pt x="5351014" y="18693"/>
                  <a:pt x="5489660" y="10934"/>
                  <a:pt x="5618268" y="0"/>
                </a:cubicBezTo>
                <a:cubicBezTo>
                  <a:pt x="5746876" y="-10934"/>
                  <a:pt x="6081220" y="31528"/>
                  <a:pt x="6317058" y="0"/>
                </a:cubicBezTo>
                <a:cubicBezTo>
                  <a:pt x="6552896" y="-31528"/>
                  <a:pt x="6729734" y="-2468"/>
                  <a:pt x="7113678" y="0"/>
                </a:cubicBezTo>
                <a:cubicBezTo>
                  <a:pt x="7497622" y="2468"/>
                  <a:pt x="7596363" y="9567"/>
                  <a:pt x="8008128" y="0"/>
                </a:cubicBezTo>
                <a:cubicBezTo>
                  <a:pt x="8419893" y="-9567"/>
                  <a:pt x="8506905" y="-43640"/>
                  <a:pt x="8902579" y="0"/>
                </a:cubicBezTo>
                <a:cubicBezTo>
                  <a:pt x="9298253" y="43640"/>
                  <a:pt x="9536394" y="14714"/>
                  <a:pt x="9783054" y="0"/>
                </a:cubicBezTo>
                <a:cubicBezTo>
                  <a:pt x="9767248" y="99693"/>
                  <a:pt x="9793495" y="305992"/>
                  <a:pt x="9783054" y="418592"/>
                </a:cubicBezTo>
                <a:cubicBezTo>
                  <a:pt x="9772613" y="531192"/>
                  <a:pt x="9777645" y="671317"/>
                  <a:pt x="9783054" y="872067"/>
                </a:cubicBezTo>
                <a:cubicBezTo>
                  <a:pt x="9653651" y="850902"/>
                  <a:pt x="9523990" y="878981"/>
                  <a:pt x="9279926" y="872067"/>
                </a:cubicBezTo>
                <a:cubicBezTo>
                  <a:pt x="9035862" y="865153"/>
                  <a:pt x="9048215" y="856117"/>
                  <a:pt x="8874628" y="872067"/>
                </a:cubicBezTo>
                <a:cubicBezTo>
                  <a:pt x="8701041" y="888017"/>
                  <a:pt x="8589588" y="851998"/>
                  <a:pt x="8469330" y="872067"/>
                </a:cubicBezTo>
                <a:cubicBezTo>
                  <a:pt x="8349072" y="892136"/>
                  <a:pt x="8095517" y="881478"/>
                  <a:pt x="7966201" y="872067"/>
                </a:cubicBezTo>
                <a:cubicBezTo>
                  <a:pt x="7836885" y="862656"/>
                  <a:pt x="7756831" y="885147"/>
                  <a:pt x="7560903" y="872067"/>
                </a:cubicBezTo>
                <a:cubicBezTo>
                  <a:pt x="7364975" y="858987"/>
                  <a:pt x="7010999" y="890566"/>
                  <a:pt x="6666453" y="872067"/>
                </a:cubicBezTo>
                <a:cubicBezTo>
                  <a:pt x="6321907" y="853569"/>
                  <a:pt x="6382673" y="862590"/>
                  <a:pt x="6261155" y="872067"/>
                </a:cubicBezTo>
                <a:cubicBezTo>
                  <a:pt x="6139637" y="881544"/>
                  <a:pt x="5721015" y="909155"/>
                  <a:pt x="5464534" y="872067"/>
                </a:cubicBezTo>
                <a:cubicBezTo>
                  <a:pt x="5208053" y="834979"/>
                  <a:pt x="4950063" y="853093"/>
                  <a:pt x="4765745" y="872067"/>
                </a:cubicBezTo>
                <a:cubicBezTo>
                  <a:pt x="4581427" y="891041"/>
                  <a:pt x="4456409" y="866672"/>
                  <a:pt x="4360447" y="872067"/>
                </a:cubicBezTo>
                <a:cubicBezTo>
                  <a:pt x="4264485" y="877462"/>
                  <a:pt x="4054834" y="851344"/>
                  <a:pt x="3857318" y="872067"/>
                </a:cubicBezTo>
                <a:cubicBezTo>
                  <a:pt x="3659802" y="892790"/>
                  <a:pt x="3654628" y="883921"/>
                  <a:pt x="3452020" y="872067"/>
                </a:cubicBezTo>
                <a:cubicBezTo>
                  <a:pt x="3249412" y="860213"/>
                  <a:pt x="3200017" y="874760"/>
                  <a:pt x="3046723" y="872067"/>
                </a:cubicBezTo>
                <a:cubicBezTo>
                  <a:pt x="2893429" y="869374"/>
                  <a:pt x="2343013" y="864458"/>
                  <a:pt x="2152272" y="872067"/>
                </a:cubicBezTo>
                <a:cubicBezTo>
                  <a:pt x="1961531" y="879676"/>
                  <a:pt x="1701198" y="838920"/>
                  <a:pt x="1257821" y="872067"/>
                </a:cubicBezTo>
                <a:cubicBezTo>
                  <a:pt x="814444" y="905214"/>
                  <a:pt x="440640" y="916002"/>
                  <a:pt x="0" y="872067"/>
                </a:cubicBezTo>
                <a:cubicBezTo>
                  <a:pt x="-7175" y="732732"/>
                  <a:pt x="5917" y="579951"/>
                  <a:pt x="0" y="444754"/>
                </a:cubicBezTo>
                <a:cubicBezTo>
                  <a:pt x="-5917" y="309557"/>
                  <a:pt x="-717" y="218667"/>
                  <a:pt x="0" y="0"/>
                </a:cubicBezTo>
                <a:close/>
              </a:path>
              <a:path w="9783054" h="872067" stroke="0" extrusionOk="0">
                <a:moveTo>
                  <a:pt x="0" y="0"/>
                </a:moveTo>
                <a:cubicBezTo>
                  <a:pt x="163724" y="23919"/>
                  <a:pt x="376694" y="-12870"/>
                  <a:pt x="503128" y="0"/>
                </a:cubicBezTo>
                <a:cubicBezTo>
                  <a:pt x="629562" y="12870"/>
                  <a:pt x="806709" y="-6118"/>
                  <a:pt x="1006257" y="0"/>
                </a:cubicBezTo>
                <a:cubicBezTo>
                  <a:pt x="1205805" y="6118"/>
                  <a:pt x="1267635" y="15792"/>
                  <a:pt x="1509385" y="0"/>
                </a:cubicBezTo>
                <a:cubicBezTo>
                  <a:pt x="1751135" y="-15792"/>
                  <a:pt x="1855617" y="-26608"/>
                  <a:pt x="2110345" y="0"/>
                </a:cubicBezTo>
                <a:cubicBezTo>
                  <a:pt x="2365073" y="26608"/>
                  <a:pt x="2776087" y="13829"/>
                  <a:pt x="3004795" y="0"/>
                </a:cubicBezTo>
                <a:cubicBezTo>
                  <a:pt x="3233503" y="-13829"/>
                  <a:pt x="3370481" y="-23543"/>
                  <a:pt x="3507924" y="0"/>
                </a:cubicBezTo>
                <a:cubicBezTo>
                  <a:pt x="3645367" y="23543"/>
                  <a:pt x="3902167" y="7020"/>
                  <a:pt x="4011052" y="0"/>
                </a:cubicBezTo>
                <a:cubicBezTo>
                  <a:pt x="4119937" y="-7020"/>
                  <a:pt x="4225087" y="-19297"/>
                  <a:pt x="4416350" y="0"/>
                </a:cubicBezTo>
                <a:cubicBezTo>
                  <a:pt x="4607613" y="19297"/>
                  <a:pt x="4890112" y="29610"/>
                  <a:pt x="5115140" y="0"/>
                </a:cubicBezTo>
                <a:cubicBezTo>
                  <a:pt x="5340168" y="-29610"/>
                  <a:pt x="5384713" y="-4091"/>
                  <a:pt x="5520438" y="0"/>
                </a:cubicBezTo>
                <a:cubicBezTo>
                  <a:pt x="5656163" y="4091"/>
                  <a:pt x="5999904" y="21140"/>
                  <a:pt x="6121397" y="0"/>
                </a:cubicBezTo>
                <a:cubicBezTo>
                  <a:pt x="6242890" y="-21140"/>
                  <a:pt x="6434334" y="5165"/>
                  <a:pt x="6526695" y="0"/>
                </a:cubicBezTo>
                <a:cubicBezTo>
                  <a:pt x="6619056" y="-5165"/>
                  <a:pt x="6735872" y="-10155"/>
                  <a:pt x="6931993" y="0"/>
                </a:cubicBezTo>
                <a:cubicBezTo>
                  <a:pt x="7128114" y="10155"/>
                  <a:pt x="7525017" y="15046"/>
                  <a:pt x="7728613" y="0"/>
                </a:cubicBezTo>
                <a:cubicBezTo>
                  <a:pt x="7932209" y="-15046"/>
                  <a:pt x="8277313" y="-22545"/>
                  <a:pt x="8427402" y="0"/>
                </a:cubicBezTo>
                <a:cubicBezTo>
                  <a:pt x="8577491" y="22545"/>
                  <a:pt x="8693332" y="408"/>
                  <a:pt x="8930531" y="0"/>
                </a:cubicBezTo>
                <a:cubicBezTo>
                  <a:pt x="9167730" y="-408"/>
                  <a:pt x="9549669" y="-35614"/>
                  <a:pt x="9783054" y="0"/>
                </a:cubicBezTo>
                <a:cubicBezTo>
                  <a:pt x="9766153" y="181079"/>
                  <a:pt x="9784082" y="217028"/>
                  <a:pt x="9783054" y="409871"/>
                </a:cubicBezTo>
                <a:cubicBezTo>
                  <a:pt x="9782026" y="602714"/>
                  <a:pt x="9786662" y="771807"/>
                  <a:pt x="9783054" y="872067"/>
                </a:cubicBezTo>
                <a:cubicBezTo>
                  <a:pt x="9658792" y="855055"/>
                  <a:pt x="9567374" y="891153"/>
                  <a:pt x="9377756" y="872067"/>
                </a:cubicBezTo>
                <a:cubicBezTo>
                  <a:pt x="9188138" y="852981"/>
                  <a:pt x="8903231" y="851517"/>
                  <a:pt x="8483305" y="872067"/>
                </a:cubicBezTo>
                <a:cubicBezTo>
                  <a:pt x="8063379" y="892617"/>
                  <a:pt x="8181208" y="864237"/>
                  <a:pt x="7980177" y="872067"/>
                </a:cubicBezTo>
                <a:cubicBezTo>
                  <a:pt x="7779146" y="879897"/>
                  <a:pt x="7553202" y="885646"/>
                  <a:pt x="7281387" y="872067"/>
                </a:cubicBezTo>
                <a:cubicBezTo>
                  <a:pt x="7009572" y="858489"/>
                  <a:pt x="6831687" y="837200"/>
                  <a:pt x="6582598" y="872067"/>
                </a:cubicBezTo>
                <a:cubicBezTo>
                  <a:pt x="6333509" y="906934"/>
                  <a:pt x="6120989" y="835848"/>
                  <a:pt x="5785978" y="872067"/>
                </a:cubicBezTo>
                <a:cubicBezTo>
                  <a:pt x="5450967" y="908286"/>
                  <a:pt x="5492893" y="875664"/>
                  <a:pt x="5282849" y="872067"/>
                </a:cubicBezTo>
                <a:cubicBezTo>
                  <a:pt x="5072805" y="868470"/>
                  <a:pt x="4926543" y="887338"/>
                  <a:pt x="4779721" y="872067"/>
                </a:cubicBezTo>
                <a:cubicBezTo>
                  <a:pt x="4632899" y="856796"/>
                  <a:pt x="4433700" y="859084"/>
                  <a:pt x="4276592" y="872067"/>
                </a:cubicBezTo>
                <a:cubicBezTo>
                  <a:pt x="4119484" y="885050"/>
                  <a:pt x="3803004" y="862730"/>
                  <a:pt x="3577803" y="872067"/>
                </a:cubicBezTo>
                <a:cubicBezTo>
                  <a:pt x="3352602" y="881404"/>
                  <a:pt x="3286630" y="866374"/>
                  <a:pt x="3172505" y="872067"/>
                </a:cubicBezTo>
                <a:cubicBezTo>
                  <a:pt x="3058380" y="877760"/>
                  <a:pt x="2759803" y="900492"/>
                  <a:pt x="2571546" y="872067"/>
                </a:cubicBezTo>
                <a:cubicBezTo>
                  <a:pt x="2383289" y="843642"/>
                  <a:pt x="2218225" y="896727"/>
                  <a:pt x="1970587" y="872067"/>
                </a:cubicBezTo>
                <a:cubicBezTo>
                  <a:pt x="1722949" y="847407"/>
                  <a:pt x="1683046" y="881946"/>
                  <a:pt x="1467458" y="872067"/>
                </a:cubicBezTo>
                <a:cubicBezTo>
                  <a:pt x="1251870" y="862188"/>
                  <a:pt x="1028631" y="904932"/>
                  <a:pt x="768669" y="872067"/>
                </a:cubicBezTo>
                <a:cubicBezTo>
                  <a:pt x="508707" y="839202"/>
                  <a:pt x="200401" y="897284"/>
                  <a:pt x="0" y="872067"/>
                </a:cubicBezTo>
                <a:cubicBezTo>
                  <a:pt x="-5484" y="767980"/>
                  <a:pt x="976" y="519346"/>
                  <a:pt x="0" y="418592"/>
                </a:cubicBezTo>
                <a:cubicBezTo>
                  <a:pt x="-976" y="317838"/>
                  <a:pt x="-4984" y="203198"/>
                  <a:pt x="0" y="0"/>
                </a:cubicBez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65691328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 complete fall detection and indoor localization alerting system.</a:t>
            </a:r>
          </a:p>
        </p:txBody>
      </p:sp>
    </p:spTree>
    <p:extLst>
      <p:ext uri="{BB962C8B-B14F-4D97-AF65-F5344CB8AC3E}">
        <p14:creationId xmlns:p14="http://schemas.microsoft.com/office/powerpoint/2010/main" val="338017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0BF6-D63E-42F1-BF10-6F7FBDFD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0ED5E-8407-4D77-4E01-8F13A92E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059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Thank You!</a:t>
            </a:r>
            <a:endParaRPr lang="en-US" b="1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4D91E2-9594-8D37-824C-A9703DF0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18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2A91513-08E7-B5F0-516E-44F9A21555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D4CAE045-7A03-808F-B393-2570C90D475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AA9C7B3B-ACEC-46DB-3994-5ECA728D315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0AA71375-B884-6F06-22E3-458E061CED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75243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1CAA36-9553-8916-636E-3847EAE06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7EDAB-013C-4100-AD4B-D15E2340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56341"/>
            <a:ext cx="10515600" cy="2852737"/>
          </a:xfrm>
        </p:spPr>
        <p:txBody>
          <a:bodyPr anchor="t" anchorCtr="0"/>
          <a:lstStyle/>
          <a:p>
            <a:pPr>
              <a:lnSpc>
                <a:spcPct val="100000"/>
              </a:lnSpc>
            </a:pPr>
            <a:r>
              <a:rPr lang="en-US" b="1" dirty="0"/>
              <a:t>Update X</a:t>
            </a:r>
            <a:br>
              <a:rPr lang="en-US" dirty="0"/>
            </a:br>
            <a:r>
              <a:rPr lang="en-US" dirty="0"/>
              <a:t>Title</a:t>
            </a:r>
            <a:endParaRPr lang="fr-FR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7A9CF-D3E6-E263-4D31-F73D1859C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290727"/>
            <a:ext cx="5745683" cy="2939196"/>
          </a:xfrm>
        </p:spPr>
        <p:txBody>
          <a:bodyPr>
            <a:normAutofit/>
          </a:bodyPr>
          <a:lstStyle/>
          <a:p>
            <a:r>
              <a:rPr lang="en-US" altLang="zh-CN" sz="2800" b="1" dirty="0">
                <a:solidFill>
                  <a:schemeClr val="tx1"/>
                </a:solidFill>
              </a:rPr>
              <a:t>Agenda</a:t>
            </a:r>
            <a:endParaRPr lang="en-US" sz="2800" b="1" dirty="0">
              <a:solidFill>
                <a:schemeClr val="tx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…</a:t>
            </a:r>
            <a:endParaRPr lang="fr-FR" sz="24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6BE601-1F70-DA1D-5ECD-810DA7AC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fr-FR" smtClean="0"/>
              <a:t>19</a:t>
            </a:fld>
            <a:endParaRPr lang="fr-FR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E3E65D5-F680-BA26-1BFB-173B6F7674F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793374" y="98990"/>
            <a:ext cx="4318782" cy="677615"/>
            <a:chOff x="7793374" y="98990"/>
            <a:chExt cx="4318782" cy="677615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DC8891DA-8A3A-330F-9B48-1310A20B7A7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3374" y="98990"/>
              <a:ext cx="157558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6ED8130B-943C-36E4-A73B-4A6E2E4518F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5444" y="98990"/>
              <a:ext cx="151671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A89E80CE-C1D7-B76C-DD07-BF1755A8B0C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9660643" y="136525"/>
              <a:ext cx="643114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文本占位符 2">
            <a:extLst>
              <a:ext uri="{FF2B5EF4-FFF2-40B4-BE49-F238E27FC236}">
                <a16:creationId xmlns:a16="http://schemas.microsoft.com/office/drawing/2014/main" id="{40EA22BE-636E-B4BE-CBE6-48508BE20411}"/>
              </a:ext>
            </a:extLst>
          </p:cNvPr>
          <p:cNvSpPr txBox="1">
            <a:spLocks/>
          </p:cNvSpPr>
          <p:nvPr/>
        </p:nvSpPr>
        <p:spPr>
          <a:xfrm>
            <a:off x="3798415" y="6229923"/>
            <a:ext cx="4595169" cy="3651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Time Scope: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47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1EC8C2-33F4-60B3-CCA0-82A72B868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489AB-58E1-D48A-77CA-50456AE2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X TITLE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F6210B-A9C8-A3F5-66CA-317852A1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61A53-97B9-45D3-8032-A1B8FD9B3B7E}" type="slidenum">
              <a:rPr lang="en-US" noProof="0" smtClean="0"/>
              <a:t>20</a:t>
            </a:fld>
            <a:endParaRPr lang="en-US" noProof="0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1E0351D-43DD-0C2B-BC38-844B48DDE00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43681" y="136525"/>
            <a:ext cx="2766463" cy="457201"/>
            <a:chOff x="9327329" y="136524"/>
            <a:chExt cx="2766463" cy="45720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809F4F2-375E-5B14-90C8-4AE1C02C6CB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27329" y="136524"/>
              <a:ext cx="112541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37F0EC5B-D3A0-04A8-8089-7A0E2E853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0426" y="136524"/>
              <a:ext cx="1083366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6" descr="国科温州研究院硕士、博士、高层次人才招聘-理聘">
              <a:extLst>
                <a:ext uri="{FF2B5EF4-FFF2-40B4-BE49-F238E27FC236}">
                  <a16:creationId xmlns:a16="http://schemas.microsoft.com/office/drawing/2014/main" id="{B4889768-6028-0903-E398-0A1A45AA19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3" t="4850" r="3907" b="3523"/>
            <a:stretch>
              <a:fillRect/>
            </a:stretch>
          </p:blipFill>
          <p:spPr bwMode="auto">
            <a:xfrm>
              <a:off x="10498721" y="136525"/>
              <a:ext cx="459367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38EC4F6-C419-B010-B9F1-3802C614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117194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noProof="0" dirty="0"/>
              <a:t>T</a:t>
            </a:r>
            <a:r>
              <a:rPr lang="en-US" altLang="zh-CN" b="1" noProof="0" dirty="0"/>
              <a:t>itle</a:t>
            </a:r>
            <a:r>
              <a:rPr lang="en-US" b="1" noProof="0" dirty="0"/>
              <a:t>:</a:t>
            </a:r>
          </a:p>
          <a:p>
            <a:pPr lvl="1"/>
            <a:r>
              <a:rPr lang="en-US" noProof="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04464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1310</Words>
  <Application>Microsoft Office PowerPoint</Application>
  <PresentationFormat>宽屏</PresentationFormat>
  <Paragraphs>305</Paragraphs>
  <Slides>20</Slides>
  <Notes>15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Arial</vt:lpstr>
      <vt:lpstr>Cambria Math</vt:lpstr>
      <vt:lpstr>Wingdings</vt:lpstr>
      <vt:lpstr>Office 主题​​</vt:lpstr>
      <vt:lpstr>Wearable-based Fall Detection  with Indoor Localization Context for Healthcare Environments</vt:lpstr>
      <vt:lpstr>Global Agenda</vt:lpstr>
      <vt:lpstr>Update 1 Project Setup &amp; System Design</vt:lpstr>
      <vt:lpstr>1.1 Motivation &amp; Background</vt:lpstr>
      <vt:lpstr>1.2 Problem Statement</vt:lpstr>
      <vt:lpstr>2 System-Level Design</vt:lpstr>
      <vt:lpstr>3 Functional Design Overview</vt:lpstr>
      <vt:lpstr>3.1 F1-Fall Event Detection</vt:lpstr>
      <vt:lpstr>3.2 F2-Post-fall Situation Assessment</vt:lpstr>
      <vt:lpstr>3.3 F3-Indoor Fall Location Identification</vt:lpstr>
      <vt:lpstr>3.4 F4-Decision &amp; Alerting</vt:lpstr>
      <vt:lpstr>3.5 F5-Post-event Analysis &amp; Optimization</vt:lpstr>
      <vt:lpstr>4.1 Sensing Overview</vt:lpstr>
      <vt:lpstr>4.1 Sensing Overview</vt:lpstr>
      <vt:lpstr>4.2 Data Overview</vt:lpstr>
      <vt:lpstr>4.2 Data Overview</vt:lpstr>
      <vt:lpstr>5 Expected Outcomes</vt:lpstr>
      <vt:lpstr>Thank You!</vt:lpstr>
      <vt:lpstr>Update X Title</vt:lpstr>
      <vt:lpstr>X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Xiaofan GUO</dc:creator>
  <cp:lastModifiedBy>Xiaofan GUO</cp:lastModifiedBy>
  <cp:revision>424</cp:revision>
  <dcterms:created xsi:type="dcterms:W3CDTF">2025-12-23T01:50:14Z</dcterms:created>
  <dcterms:modified xsi:type="dcterms:W3CDTF">2025-12-25T07:03:33Z</dcterms:modified>
</cp:coreProperties>
</file>